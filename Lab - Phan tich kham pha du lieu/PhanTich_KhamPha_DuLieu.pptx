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Roboto Slab" charset="1" panose="00000000000000000000"/>
      <p:regular r:id="rId32"/>
    </p:embeddedFont>
    <p:embeddedFont>
      <p:font typeface="Red Hat Display Bold" charset="1" panose="02010803040201060303"/>
      <p:regular r:id="rId33"/>
    </p:embeddedFont>
    <p:embeddedFont>
      <p:font typeface="Red Hat Display" charset="1" panose="02010503040201060303"/>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1.png" Type="http://schemas.openxmlformats.org/officeDocument/2006/relationships/image"/><Relationship Id="rId3" Target="../media/image1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2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2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2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0998916" y="-1671468"/>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106472" y="2136222"/>
            <a:ext cx="6925852" cy="6014556"/>
          </a:xfrm>
          <a:custGeom>
            <a:avLst/>
            <a:gdLst/>
            <a:ahLst/>
            <a:cxnLst/>
            <a:rect r="r" b="b" t="t" l="l"/>
            <a:pathLst>
              <a:path h="6014556" w="6925852">
                <a:moveTo>
                  <a:pt x="0" y="0"/>
                </a:moveTo>
                <a:lnTo>
                  <a:pt x="6925852" y="0"/>
                </a:lnTo>
                <a:lnTo>
                  <a:pt x="6925852" y="6014556"/>
                </a:lnTo>
                <a:lnTo>
                  <a:pt x="0" y="6014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537992">
            <a:off x="-1743105" y="7908318"/>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26878">
            <a:off x="-80629" y="-260940"/>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830696">
            <a:off x="9792992" y="7412622"/>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1809952" y="6183422"/>
            <a:ext cx="5756398" cy="1225550"/>
          </a:xfrm>
          <a:prstGeom prst="rect">
            <a:avLst/>
          </a:prstGeom>
        </p:spPr>
        <p:txBody>
          <a:bodyPr anchor="t" rtlCol="false" tIns="0" lIns="0" bIns="0" rIns="0">
            <a:spAutoFit/>
          </a:bodyPr>
          <a:lstStyle/>
          <a:p>
            <a:pPr algn="l">
              <a:lnSpc>
                <a:spcPts val="4900"/>
              </a:lnSpc>
            </a:pPr>
            <a:r>
              <a:rPr lang="en-US" sz="3500">
                <a:solidFill>
                  <a:srgbClr val="5B7ABE"/>
                </a:solidFill>
                <a:latin typeface="Roboto Slab"/>
                <a:ea typeface="Roboto Slab"/>
                <a:cs typeface="Roboto Slab"/>
                <a:sym typeface="Roboto Slab"/>
              </a:rPr>
              <a:t>DCT142C1 - Nhóm 11 </a:t>
            </a:r>
          </a:p>
          <a:p>
            <a:pPr algn="l">
              <a:lnSpc>
                <a:spcPts val="4900"/>
              </a:lnSpc>
            </a:pPr>
            <a:r>
              <a:rPr lang="en-US" sz="3500">
                <a:solidFill>
                  <a:srgbClr val="5B7ABE"/>
                </a:solidFill>
                <a:latin typeface="Roboto Slab"/>
                <a:ea typeface="Roboto Slab"/>
                <a:cs typeface="Roboto Slab"/>
                <a:sym typeface="Roboto Slab"/>
              </a:rPr>
              <a:t>Giảng viên : T.S Đỗ Như Tài</a:t>
            </a:r>
          </a:p>
        </p:txBody>
      </p:sp>
      <p:sp>
        <p:nvSpPr>
          <p:cNvPr name="TextBox 8" id="8"/>
          <p:cNvSpPr txBox="true"/>
          <p:nvPr/>
        </p:nvSpPr>
        <p:spPr>
          <a:xfrm rot="0">
            <a:off x="1809952" y="3302948"/>
            <a:ext cx="9188964" cy="2498471"/>
          </a:xfrm>
          <a:prstGeom prst="rect">
            <a:avLst/>
          </a:prstGeom>
        </p:spPr>
        <p:txBody>
          <a:bodyPr anchor="t" rtlCol="false" tIns="0" lIns="0" bIns="0" rIns="0">
            <a:spAutoFit/>
          </a:bodyPr>
          <a:lstStyle/>
          <a:p>
            <a:pPr algn="l">
              <a:lnSpc>
                <a:spcPts val="9952"/>
              </a:lnSpc>
            </a:pPr>
            <a:r>
              <a:rPr lang="en-US" b="true" sz="8000">
                <a:solidFill>
                  <a:srgbClr val="2D2261"/>
                </a:solidFill>
                <a:latin typeface="Red Hat Display Bold"/>
                <a:ea typeface="Red Hat Display Bold"/>
                <a:cs typeface="Red Hat Display Bold"/>
                <a:sym typeface="Red Hat Display Bold"/>
              </a:rPr>
              <a:t>PHÂN TÍCH KHÁM PHÁ DỮ LIỆU</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3193366" y="1129865"/>
            <a:ext cx="11901268" cy="1749425"/>
          </a:xfrm>
          <a:prstGeom prst="rect">
            <a:avLst/>
          </a:prstGeom>
        </p:spPr>
        <p:txBody>
          <a:bodyPr anchor="t" rtlCol="false" tIns="0" lIns="0" bIns="0" rIns="0">
            <a:spAutoFit/>
          </a:bodyPr>
          <a:lstStyle/>
          <a:p>
            <a:pPr algn="ctr">
              <a:lnSpc>
                <a:spcPts val="7000"/>
              </a:lnSpc>
            </a:pPr>
            <a:r>
              <a:rPr lang="en-US" b="true" sz="5000">
                <a:solidFill>
                  <a:srgbClr val="2D2261"/>
                </a:solidFill>
                <a:latin typeface="Red Hat Display Bold"/>
                <a:ea typeface="Red Hat Display Bold"/>
                <a:cs typeface="Red Hat Display Bold"/>
                <a:sym typeface="Red Hat Display Bold"/>
              </a:rPr>
              <a:t>CHƯƠNG 1. TỔNG QUAN</a:t>
            </a:r>
            <a:r>
              <a:rPr lang="en-US" b="true" sz="5000">
                <a:solidFill>
                  <a:srgbClr val="2D2261"/>
                </a:solidFill>
                <a:latin typeface="Red Hat Display Bold"/>
                <a:ea typeface="Red Hat Display Bold"/>
                <a:cs typeface="Red Hat Display Bold"/>
                <a:sym typeface="Red Hat Display Bold"/>
              </a:rPr>
              <a:t> VÀ MỤC TIÊU PHÂN TÍCH KHÁM PHÁ DỮ LIỆU (EDA)</a:t>
            </a:r>
          </a:p>
        </p:txBody>
      </p:sp>
      <p:grpSp>
        <p:nvGrpSpPr>
          <p:cNvPr name="Group 3" id="3"/>
          <p:cNvGrpSpPr/>
          <p:nvPr/>
        </p:nvGrpSpPr>
        <p:grpSpPr>
          <a:xfrm rot="0">
            <a:off x="2410572" y="4130381"/>
            <a:ext cx="13466856" cy="4589884"/>
            <a:chOff x="0" y="0"/>
            <a:chExt cx="3546826" cy="1208858"/>
          </a:xfrm>
        </p:grpSpPr>
        <p:sp>
          <p:nvSpPr>
            <p:cNvPr name="Freeform 4" id="4"/>
            <p:cNvSpPr/>
            <p:nvPr/>
          </p:nvSpPr>
          <p:spPr>
            <a:xfrm flipH="false" flipV="false" rot="0">
              <a:off x="0" y="0"/>
              <a:ext cx="3546826" cy="1208858"/>
            </a:xfrm>
            <a:custGeom>
              <a:avLst/>
              <a:gdLst/>
              <a:ahLst/>
              <a:cxnLst/>
              <a:rect r="r" b="b" t="t" l="l"/>
              <a:pathLst>
                <a:path h="1208858" w="3546826">
                  <a:moveTo>
                    <a:pt x="17247" y="0"/>
                  </a:moveTo>
                  <a:lnTo>
                    <a:pt x="3529580" y="0"/>
                  </a:lnTo>
                  <a:cubicBezTo>
                    <a:pt x="3534154" y="0"/>
                    <a:pt x="3538540" y="1817"/>
                    <a:pt x="3541775" y="5051"/>
                  </a:cubicBezTo>
                  <a:cubicBezTo>
                    <a:pt x="3545009" y="8286"/>
                    <a:pt x="3546826" y="12673"/>
                    <a:pt x="3546826" y="17247"/>
                  </a:cubicBezTo>
                  <a:lnTo>
                    <a:pt x="3546826" y="1191612"/>
                  </a:lnTo>
                  <a:cubicBezTo>
                    <a:pt x="3546826" y="1201137"/>
                    <a:pt x="3539105" y="1208858"/>
                    <a:pt x="3529580" y="1208858"/>
                  </a:cubicBezTo>
                  <a:lnTo>
                    <a:pt x="17247" y="1208858"/>
                  </a:lnTo>
                  <a:cubicBezTo>
                    <a:pt x="7722" y="1208858"/>
                    <a:pt x="0" y="1201137"/>
                    <a:pt x="0" y="1191612"/>
                  </a:cubicBezTo>
                  <a:lnTo>
                    <a:pt x="0" y="17247"/>
                  </a:lnTo>
                  <a:cubicBezTo>
                    <a:pt x="0" y="7722"/>
                    <a:pt x="7722" y="0"/>
                    <a:pt x="17247" y="0"/>
                  </a:cubicBezTo>
                  <a:close/>
                </a:path>
              </a:pathLst>
            </a:custGeom>
            <a:solidFill>
              <a:srgbClr val="ECE1D7"/>
            </a:solidFill>
          </p:spPr>
        </p:sp>
        <p:sp>
          <p:nvSpPr>
            <p:cNvPr name="TextBox 5" id="5"/>
            <p:cNvSpPr txBox="true"/>
            <p:nvPr/>
          </p:nvSpPr>
          <p:spPr>
            <a:xfrm>
              <a:off x="0" y="-47625"/>
              <a:ext cx="3546826" cy="1256483"/>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2410572" y="3196973"/>
            <a:ext cx="13466856" cy="1866815"/>
            <a:chOff x="0" y="0"/>
            <a:chExt cx="3546826" cy="491672"/>
          </a:xfrm>
        </p:grpSpPr>
        <p:sp>
          <p:nvSpPr>
            <p:cNvPr name="Freeform 7" id="7"/>
            <p:cNvSpPr/>
            <p:nvPr/>
          </p:nvSpPr>
          <p:spPr>
            <a:xfrm flipH="false" flipV="false" rot="0">
              <a:off x="0" y="0"/>
              <a:ext cx="3546826" cy="491672"/>
            </a:xfrm>
            <a:custGeom>
              <a:avLst/>
              <a:gdLst/>
              <a:ahLst/>
              <a:cxnLst/>
              <a:rect r="r" b="b" t="t" l="l"/>
              <a:pathLst>
                <a:path h="491672" w="3546826">
                  <a:moveTo>
                    <a:pt x="17247" y="0"/>
                  </a:moveTo>
                  <a:lnTo>
                    <a:pt x="3529580" y="0"/>
                  </a:lnTo>
                  <a:cubicBezTo>
                    <a:pt x="3534154" y="0"/>
                    <a:pt x="3538540" y="1817"/>
                    <a:pt x="3541775" y="5051"/>
                  </a:cubicBezTo>
                  <a:cubicBezTo>
                    <a:pt x="3545009" y="8286"/>
                    <a:pt x="3546826" y="12673"/>
                    <a:pt x="3546826" y="17247"/>
                  </a:cubicBezTo>
                  <a:lnTo>
                    <a:pt x="3546826" y="474425"/>
                  </a:lnTo>
                  <a:cubicBezTo>
                    <a:pt x="3546826" y="483950"/>
                    <a:pt x="3539105" y="491672"/>
                    <a:pt x="3529580" y="491672"/>
                  </a:cubicBezTo>
                  <a:lnTo>
                    <a:pt x="17247" y="491672"/>
                  </a:lnTo>
                  <a:cubicBezTo>
                    <a:pt x="7722" y="491672"/>
                    <a:pt x="0" y="483950"/>
                    <a:pt x="0" y="474425"/>
                  </a:cubicBezTo>
                  <a:lnTo>
                    <a:pt x="0" y="17247"/>
                  </a:lnTo>
                  <a:cubicBezTo>
                    <a:pt x="0" y="7722"/>
                    <a:pt x="7722" y="0"/>
                    <a:pt x="17247" y="0"/>
                  </a:cubicBezTo>
                  <a:close/>
                </a:path>
              </a:pathLst>
            </a:custGeom>
            <a:solidFill>
              <a:srgbClr val="5B7ABE"/>
            </a:solidFill>
          </p:spPr>
        </p:sp>
        <p:sp>
          <p:nvSpPr>
            <p:cNvPr name="TextBox 8" id="8"/>
            <p:cNvSpPr txBox="true"/>
            <p:nvPr/>
          </p:nvSpPr>
          <p:spPr>
            <a:xfrm>
              <a:off x="0" y="-47625"/>
              <a:ext cx="3546826" cy="539297"/>
            </a:xfrm>
            <a:prstGeom prst="rect">
              <a:avLst/>
            </a:prstGeom>
          </p:spPr>
          <p:txBody>
            <a:bodyPr anchor="ctr" rtlCol="false" tIns="50800" lIns="50800" bIns="50800" rIns="50800"/>
            <a:lstStyle/>
            <a:p>
              <a:pPr algn="ctr">
                <a:lnSpc>
                  <a:spcPts val="3032"/>
                </a:lnSpc>
              </a:pPr>
            </a:p>
          </p:txBody>
        </p:sp>
      </p:grpSp>
      <p:sp>
        <p:nvSpPr>
          <p:cNvPr name="TextBox 9" id="9"/>
          <p:cNvSpPr txBox="true"/>
          <p:nvPr/>
        </p:nvSpPr>
        <p:spPr>
          <a:xfrm rot="0">
            <a:off x="3336465" y="3675086"/>
            <a:ext cx="11615070" cy="669925"/>
          </a:xfrm>
          <a:prstGeom prst="rect">
            <a:avLst/>
          </a:prstGeom>
        </p:spPr>
        <p:txBody>
          <a:bodyPr anchor="t" rtlCol="false" tIns="0" lIns="0" bIns="0" rIns="0">
            <a:spAutoFit/>
          </a:bodyPr>
          <a:lstStyle/>
          <a:p>
            <a:pPr algn="ctr">
              <a:lnSpc>
                <a:spcPts val="5599"/>
              </a:lnSpc>
            </a:pPr>
            <a:r>
              <a:rPr lang="en-US" b="true" sz="3999">
                <a:solidFill>
                  <a:srgbClr val="FBFCFE"/>
                </a:solidFill>
                <a:latin typeface="Red Hat Display Bold"/>
                <a:ea typeface="Red Hat Display Bold"/>
                <a:cs typeface="Red Hat Display Bold"/>
                <a:sym typeface="Red Hat Display Bold"/>
              </a:rPr>
              <a:t>Bối cảnh &amp; khái niệm</a:t>
            </a:r>
          </a:p>
        </p:txBody>
      </p:sp>
      <p:sp>
        <p:nvSpPr>
          <p:cNvPr name="TextBox 10" id="10"/>
          <p:cNvSpPr txBox="true"/>
          <p:nvPr/>
        </p:nvSpPr>
        <p:spPr>
          <a:xfrm rot="0">
            <a:off x="2958857" y="5633007"/>
            <a:ext cx="12370286" cy="2114550"/>
          </a:xfrm>
          <a:prstGeom prst="rect">
            <a:avLst/>
          </a:prstGeom>
        </p:spPr>
        <p:txBody>
          <a:bodyPr anchor="t" rtlCol="false" tIns="0" lIns="0" bIns="0" rIns="0">
            <a:spAutoFit/>
          </a:bodyPr>
          <a:lstStyle/>
          <a:p>
            <a:pPr algn="just">
              <a:lnSpc>
                <a:spcPts val="4200"/>
              </a:lnSpc>
            </a:pPr>
            <a:r>
              <a:rPr lang="en-US" sz="3000">
                <a:solidFill>
                  <a:srgbClr val="2D2261"/>
                </a:solidFill>
                <a:latin typeface="Red Hat Display"/>
                <a:ea typeface="Red Hat Display"/>
                <a:cs typeface="Red Hat Display"/>
                <a:sym typeface="Red Hat Display"/>
              </a:rPr>
              <a:t>Phân tích khám phá dữ liệu (Exploratory Data Analysis – EDA) là bước khởi đầu bắt buộc trong mọi dự án Học máy (Machine Learning) nhằm hiểu rõ cấu trúc, phân phối, chất lượng và các mối quan hệ ẩn bên trong dữ liệu trước khi chọn mô</a:t>
            </a:r>
            <a:r>
              <a:rPr lang="en-US" sz="3000">
                <a:solidFill>
                  <a:srgbClr val="2D2261"/>
                </a:solidFill>
                <a:latin typeface="Red Hat Display"/>
                <a:ea typeface="Red Hat Display"/>
                <a:cs typeface="Red Hat Display"/>
                <a:sym typeface="Red Hat Display"/>
              </a:rPr>
              <a:t> hình</a:t>
            </a:r>
          </a:p>
        </p:txBody>
      </p:sp>
      <p:sp>
        <p:nvSpPr>
          <p:cNvPr name="Freeform 11" id="11"/>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2830696">
            <a:off x="16617167" y="-1298751"/>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3103321" y="1106511"/>
            <a:ext cx="12081357" cy="2635250"/>
          </a:xfrm>
          <a:prstGeom prst="rect">
            <a:avLst/>
          </a:prstGeom>
        </p:spPr>
        <p:txBody>
          <a:bodyPr anchor="t" rtlCol="false" tIns="0" lIns="0" bIns="0" rIns="0">
            <a:spAutoFit/>
          </a:bodyPr>
          <a:lstStyle/>
          <a:p>
            <a:pPr algn="ctr">
              <a:lnSpc>
                <a:spcPts val="7000"/>
              </a:lnSpc>
            </a:pPr>
            <a:r>
              <a:rPr lang="en-US" b="true" sz="5000">
                <a:solidFill>
                  <a:srgbClr val="2D2261"/>
                </a:solidFill>
                <a:latin typeface="Red Hat Display Bold"/>
                <a:ea typeface="Red Hat Display Bold"/>
                <a:cs typeface="Red Hat Display Bold"/>
                <a:sym typeface="Red Hat Display Bold"/>
              </a:rPr>
              <a:t>CHƯƠNG 1. TỔNG QUAN</a:t>
            </a:r>
            <a:r>
              <a:rPr lang="en-US" b="true" sz="5000">
                <a:solidFill>
                  <a:srgbClr val="2D2261"/>
                </a:solidFill>
                <a:latin typeface="Red Hat Display Bold"/>
                <a:ea typeface="Red Hat Display Bold"/>
                <a:cs typeface="Red Hat Display Bold"/>
                <a:sym typeface="Red Hat Display Bold"/>
              </a:rPr>
              <a:t> VÀ MỤC TIÊU PHÂN TÍCH KHÁM PHÁ DỮ LIỆU (EDA)</a:t>
            </a:r>
          </a:p>
          <a:p>
            <a:pPr algn="ctr">
              <a:lnSpc>
                <a:spcPts val="7000"/>
              </a:lnSpc>
            </a:pPr>
          </a:p>
        </p:txBody>
      </p:sp>
      <p:grpSp>
        <p:nvGrpSpPr>
          <p:cNvPr name="Group 3" id="3"/>
          <p:cNvGrpSpPr/>
          <p:nvPr/>
        </p:nvGrpSpPr>
        <p:grpSpPr>
          <a:xfrm rot="0">
            <a:off x="2410572" y="4130381"/>
            <a:ext cx="13466856" cy="4589884"/>
            <a:chOff x="0" y="0"/>
            <a:chExt cx="3546826" cy="1208858"/>
          </a:xfrm>
        </p:grpSpPr>
        <p:sp>
          <p:nvSpPr>
            <p:cNvPr name="Freeform 4" id="4"/>
            <p:cNvSpPr/>
            <p:nvPr/>
          </p:nvSpPr>
          <p:spPr>
            <a:xfrm flipH="false" flipV="false" rot="0">
              <a:off x="0" y="0"/>
              <a:ext cx="3546826" cy="1208858"/>
            </a:xfrm>
            <a:custGeom>
              <a:avLst/>
              <a:gdLst/>
              <a:ahLst/>
              <a:cxnLst/>
              <a:rect r="r" b="b" t="t" l="l"/>
              <a:pathLst>
                <a:path h="1208858" w="3546826">
                  <a:moveTo>
                    <a:pt x="17247" y="0"/>
                  </a:moveTo>
                  <a:lnTo>
                    <a:pt x="3529580" y="0"/>
                  </a:lnTo>
                  <a:cubicBezTo>
                    <a:pt x="3534154" y="0"/>
                    <a:pt x="3538540" y="1817"/>
                    <a:pt x="3541775" y="5051"/>
                  </a:cubicBezTo>
                  <a:cubicBezTo>
                    <a:pt x="3545009" y="8286"/>
                    <a:pt x="3546826" y="12673"/>
                    <a:pt x="3546826" y="17247"/>
                  </a:cubicBezTo>
                  <a:lnTo>
                    <a:pt x="3546826" y="1191612"/>
                  </a:lnTo>
                  <a:cubicBezTo>
                    <a:pt x="3546826" y="1201137"/>
                    <a:pt x="3539105" y="1208858"/>
                    <a:pt x="3529580" y="1208858"/>
                  </a:cubicBezTo>
                  <a:lnTo>
                    <a:pt x="17247" y="1208858"/>
                  </a:lnTo>
                  <a:cubicBezTo>
                    <a:pt x="7722" y="1208858"/>
                    <a:pt x="0" y="1201137"/>
                    <a:pt x="0" y="1191612"/>
                  </a:cubicBezTo>
                  <a:lnTo>
                    <a:pt x="0" y="17247"/>
                  </a:lnTo>
                  <a:cubicBezTo>
                    <a:pt x="0" y="7722"/>
                    <a:pt x="7722" y="0"/>
                    <a:pt x="17247" y="0"/>
                  </a:cubicBezTo>
                  <a:close/>
                </a:path>
              </a:pathLst>
            </a:custGeom>
            <a:solidFill>
              <a:srgbClr val="ECE1D7"/>
            </a:solidFill>
          </p:spPr>
        </p:sp>
        <p:sp>
          <p:nvSpPr>
            <p:cNvPr name="TextBox 5" id="5"/>
            <p:cNvSpPr txBox="true"/>
            <p:nvPr/>
          </p:nvSpPr>
          <p:spPr>
            <a:xfrm>
              <a:off x="0" y="-47625"/>
              <a:ext cx="3546826" cy="1256483"/>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2410572" y="3196973"/>
            <a:ext cx="13466856" cy="1866815"/>
            <a:chOff x="0" y="0"/>
            <a:chExt cx="3546826" cy="491672"/>
          </a:xfrm>
        </p:grpSpPr>
        <p:sp>
          <p:nvSpPr>
            <p:cNvPr name="Freeform 7" id="7"/>
            <p:cNvSpPr/>
            <p:nvPr/>
          </p:nvSpPr>
          <p:spPr>
            <a:xfrm flipH="false" flipV="false" rot="0">
              <a:off x="0" y="0"/>
              <a:ext cx="3546826" cy="491672"/>
            </a:xfrm>
            <a:custGeom>
              <a:avLst/>
              <a:gdLst/>
              <a:ahLst/>
              <a:cxnLst/>
              <a:rect r="r" b="b" t="t" l="l"/>
              <a:pathLst>
                <a:path h="491672" w="3546826">
                  <a:moveTo>
                    <a:pt x="17247" y="0"/>
                  </a:moveTo>
                  <a:lnTo>
                    <a:pt x="3529580" y="0"/>
                  </a:lnTo>
                  <a:cubicBezTo>
                    <a:pt x="3534154" y="0"/>
                    <a:pt x="3538540" y="1817"/>
                    <a:pt x="3541775" y="5051"/>
                  </a:cubicBezTo>
                  <a:cubicBezTo>
                    <a:pt x="3545009" y="8286"/>
                    <a:pt x="3546826" y="12673"/>
                    <a:pt x="3546826" y="17247"/>
                  </a:cubicBezTo>
                  <a:lnTo>
                    <a:pt x="3546826" y="474425"/>
                  </a:lnTo>
                  <a:cubicBezTo>
                    <a:pt x="3546826" y="483950"/>
                    <a:pt x="3539105" y="491672"/>
                    <a:pt x="3529580" y="491672"/>
                  </a:cubicBezTo>
                  <a:lnTo>
                    <a:pt x="17247" y="491672"/>
                  </a:lnTo>
                  <a:cubicBezTo>
                    <a:pt x="7722" y="491672"/>
                    <a:pt x="0" y="483950"/>
                    <a:pt x="0" y="474425"/>
                  </a:cubicBezTo>
                  <a:lnTo>
                    <a:pt x="0" y="17247"/>
                  </a:lnTo>
                  <a:cubicBezTo>
                    <a:pt x="0" y="7722"/>
                    <a:pt x="7722" y="0"/>
                    <a:pt x="17247" y="0"/>
                  </a:cubicBezTo>
                  <a:close/>
                </a:path>
              </a:pathLst>
            </a:custGeom>
            <a:solidFill>
              <a:srgbClr val="5B7ABE"/>
            </a:solidFill>
          </p:spPr>
        </p:sp>
        <p:sp>
          <p:nvSpPr>
            <p:cNvPr name="TextBox 8" id="8"/>
            <p:cNvSpPr txBox="true"/>
            <p:nvPr/>
          </p:nvSpPr>
          <p:spPr>
            <a:xfrm>
              <a:off x="0" y="-47625"/>
              <a:ext cx="3546826" cy="539297"/>
            </a:xfrm>
            <a:prstGeom prst="rect">
              <a:avLst/>
            </a:prstGeom>
          </p:spPr>
          <p:txBody>
            <a:bodyPr anchor="ctr" rtlCol="false" tIns="50800" lIns="50800" bIns="50800" rIns="50800"/>
            <a:lstStyle/>
            <a:p>
              <a:pPr algn="ctr">
                <a:lnSpc>
                  <a:spcPts val="3032"/>
                </a:lnSpc>
              </a:pPr>
            </a:p>
          </p:txBody>
        </p:sp>
      </p:grpSp>
      <p:sp>
        <p:nvSpPr>
          <p:cNvPr name="TextBox 9" id="9"/>
          <p:cNvSpPr txBox="true"/>
          <p:nvPr/>
        </p:nvSpPr>
        <p:spPr>
          <a:xfrm rot="0">
            <a:off x="3336465" y="3675086"/>
            <a:ext cx="11615070" cy="1374775"/>
          </a:xfrm>
          <a:prstGeom prst="rect">
            <a:avLst/>
          </a:prstGeom>
        </p:spPr>
        <p:txBody>
          <a:bodyPr anchor="t" rtlCol="false" tIns="0" lIns="0" bIns="0" rIns="0">
            <a:spAutoFit/>
          </a:bodyPr>
          <a:lstStyle/>
          <a:p>
            <a:pPr algn="ctr">
              <a:lnSpc>
                <a:spcPts val="5599"/>
              </a:lnSpc>
            </a:pPr>
            <a:r>
              <a:rPr lang="en-US" sz="3999" b="true">
                <a:solidFill>
                  <a:srgbClr val="FBFCFE"/>
                </a:solidFill>
                <a:latin typeface="Red Hat Display Bold"/>
                <a:ea typeface="Red Hat Display Bold"/>
                <a:cs typeface="Red Hat Display Bold"/>
                <a:sym typeface="Red Hat Display Bold"/>
              </a:rPr>
              <a:t>3 Mục tiêu cốt lõi của bài thực hành</a:t>
            </a:r>
          </a:p>
          <a:p>
            <a:pPr algn="ctr">
              <a:lnSpc>
                <a:spcPts val="5599"/>
              </a:lnSpc>
            </a:pPr>
          </a:p>
        </p:txBody>
      </p:sp>
      <p:sp>
        <p:nvSpPr>
          <p:cNvPr name="TextBox 10" id="10"/>
          <p:cNvSpPr txBox="true"/>
          <p:nvPr/>
        </p:nvSpPr>
        <p:spPr>
          <a:xfrm rot="0">
            <a:off x="2744507" y="5282864"/>
            <a:ext cx="12370286" cy="3714750"/>
          </a:xfrm>
          <a:prstGeom prst="rect">
            <a:avLst/>
          </a:prstGeom>
        </p:spPr>
        <p:txBody>
          <a:bodyPr anchor="t" rtlCol="false" tIns="0" lIns="0" bIns="0" rIns="0">
            <a:spAutoFit/>
          </a:bodyPr>
          <a:lstStyle/>
          <a:p>
            <a:pPr algn="just" marL="647700" indent="-323850" lvl="1">
              <a:lnSpc>
                <a:spcPts val="4200"/>
              </a:lnSpc>
              <a:buFont typeface="Arial"/>
              <a:buChar char="•"/>
            </a:pPr>
            <a:r>
              <a:rPr lang="en-US" sz="3000">
                <a:solidFill>
                  <a:srgbClr val="2D2261"/>
                </a:solidFill>
                <a:latin typeface="Red Hat Display"/>
                <a:ea typeface="Red Hat Display"/>
                <a:cs typeface="Red Hat Display"/>
                <a:sym typeface="Red Hat Display"/>
              </a:rPr>
              <a:t>Thống kê mô tả: Xác định các đặc trưng chính như trung bình, trung vị, độ lệch chuẩn và dạng phân bố.</a:t>
            </a:r>
          </a:p>
          <a:p>
            <a:pPr algn="just" marL="647700" indent="-323850" lvl="1">
              <a:lnSpc>
                <a:spcPts val="4200"/>
              </a:lnSpc>
              <a:buFont typeface="Arial"/>
              <a:buChar char="•"/>
            </a:pPr>
            <a:r>
              <a:rPr lang="en-US" sz="3000">
                <a:solidFill>
                  <a:srgbClr val="2D2261"/>
                </a:solidFill>
                <a:latin typeface="Red Hat Display"/>
                <a:ea typeface="Red Hat Display"/>
                <a:cs typeface="Red Hat Display"/>
                <a:sym typeface="Red Hat Display"/>
              </a:rPr>
              <a:t>Trực quan hóa dữ liệu: Sử dụng các biểu đồ (Histogram, Boxplot, Scatter plot, Heatmap) để phát hiện mẫu, xu hướng và điểm dị biệt.</a:t>
            </a:r>
          </a:p>
          <a:p>
            <a:pPr algn="just" marL="647700" indent="-323850" lvl="1">
              <a:lnSpc>
                <a:spcPts val="4200"/>
              </a:lnSpc>
              <a:buFont typeface="Arial"/>
              <a:buChar char="•"/>
            </a:pPr>
            <a:r>
              <a:rPr lang="en-US" sz="3000">
                <a:solidFill>
                  <a:srgbClr val="2D2261"/>
                </a:solidFill>
                <a:latin typeface="Red Hat Display"/>
                <a:ea typeface="Red Hat Display"/>
                <a:cs typeface="Red Hat Display"/>
                <a:sym typeface="Red Hat Display"/>
              </a:rPr>
              <a:t>Đánh giá chất lượng dữ liệu: Phát hiện và xử lý giá trị khuyết thiếu, trùng lặp</a:t>
            </a:r>
            <a:r>
              <a:rPr lang="en-US" sz="3000">
                <a:solidFill>
                  <a:srgbClr val="2D2261"/>
                </a:solidFill>
                <a:latin typeface="Red Hat Display"/>
                <a:ea typeface="Red Hat Display"/>
                <a:cs typeface="Red Hat Display"/>
                <a:sym typeface="Red Hat Display"/>
              </a:rPr>
              <a:t> và ngoại lai</a:t>
            </a:r>
          </a:p>
          <a:p>
            <a:pPr algn="just">
              <a:lnSpc>
                <a:spcPts val="4200"/>
              </a:lnSpc>
            </a:pPr>
          </a:p>
        </p:txBody>
      </p:sp>
      <p:sp>
        <p:nvSpPr>
          <p:cNvPr name="Freeform 11" id="11"/>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1545370" y="3228598"/>
            <a:ext cx="13065737" cy="771525"/>
          </a:xfrm>
          <a:prstGeom prst="rect">
            <a:avLst/>
          </a:prstGeom>
        </p:spPr>
        <p:txBody>
          <a:bodyPr anchor="t" rtlCol="false" tIns="0" lIns="0" bIns="0" rIns="0">
            <a:spAutoFit/>
          </a:bodyPr>
          <a:lstStyle/>
          <a:p>
            <a:pPr algn="r">
              <a:lnSpc>
                <a:spcPts val="6299"/>
              </a:lnSpc>
            </a:pPr>
            <a:r>
              <a:rPr lang="en-US" b="true" sz="4500">
                <a:solidFill>
                  <a:srgbClr val="2D2261"/>
                </a:solidFill>
                <a:latin typeface="Red Hat Display Bold"/>
                <a:ea typeface="Red Hat Display Bold"/>
                <a:cs typeface="Red Hat Display Bold"/>
                <a:sym typeface="Red Hat Display Bold"/>
              </a:rPr>
              <a:t>4 Tập dữ liệu thực tế được nghiên cứu:</a:t>
            </a:r>
          </a:p>
        </p:txBody>
      </p:sp>
      <p:grpSp>
        <p:nvGrpSpPr>
          <p:cNvPr name="Group 3" id="3"/>
          <p:cNvGrpSpPr/>
          <p:nvPr/>
        </p:nvGrpSpPr>
        <p:grpSpPr>
          <a:xfrm rot="0">
            <a:off x="1757581" y="5343105"/>
            <a:ext cx="3499238" cy="3697518"/>
            <a:chOff x="0" y="0"/>
            <a:chExt cx="921610" cy="973832"/>
          </a:xfrm>
        </p:grpSpPr>
        <p:sp>
          <p:nvSpPr>
            <p:cNvPr name="Freeform 4" id="4"/>
            <p:cNvSpPr/>
            <p:nvPr/>
          </p:nvSpPr>
          <p:spPr>
            <a:xfrm flipH="false" flipV="false" rot="0">
              <a:off x="0" y="0"/>
              <a:ext cx="921610" cy="973832"/>
            </a:xfrm>
            <a:custGeom>
              <a:avLst/>
              <a:gdLst/>
              <a:ahLst/>
              <a:cxnLst/>
              <a:rect r="r" b="b" t="t" l="l"/>
              <a:pathLst>
                <a:path h="973832" w="921610">
                  <a:moveTo>
                    <a:pt x="66374" y="0"/>
                  </a:moveTo>
                  <a:lnTo>
                    <a:pt x="855236" y="0"/>
                  </a:lnTo>
                  <a:cubicBezTo>
                    <a:pt x="891893" y="0"/>
                    <a:pt x="921610" y="29717"/>
                    <a:pt x="921610" y="66374"/>
                  </a:cubicBezTo>
                  <a:lnTo>
                    <a:pt x="921610" y="907458"/>
                  </a:lnTo>
                  <a:cubicBezTo>
                    <a:pt x="921610" y="944115"/>
                    <a:pt x="891893" y="973832"/>
                    <a:pt x="855236" y="973832"/>
                  </a:cubicBezTo>
                  <a:lnTo>
                    <a:pt x="66374" y="973832"/>
                  </a:lnTo>
                  <a:cubicBezTo>
                    <a:pt x="29717" y="973832"/>
                    <a:pt x="0" y="944115"/>
                    <a:pt x="0" y="907458"/>
                  </a:cubicBezTo>
                  <a:lnTo>
                    <a:pt x="0" y="66374"/>
                  </a:lnTo>
                  <a:cubicBezTo>
                    <a:pt x="0" y="29717"/>
                    <a:pt x="29717" y="0"/>
                    <a:pt x="66374" y="0"/>
                  </a:cubicBezTo>
                  <a:close/>
                </a:path>
              </a:pathLst>
            </a:custGeom>
            <a:solidFill>
              <a:srgbClr val="ECE1D7"/>
            </a:solidFill>
          </p:spPr>
        </p:sp>
        <p:sp>
          <p:nvSpPr>
            <p:cNvPr name="TextBox 5" id="5"/>
            <p:cNvSpPr txBox="true"/>
            <p:nvPr/>
          </p:nvSpPr>
          <p:spPr>
            <a:xfrm>
              <a:off x="0" y="-38100"/>
              <a:ext cx="921610" cy="1011932"/>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1757581" y="4409698"/>
            <a:ext cx="3499238" cy="1866815"/>
            <a:chOff x="0" y="0"/>
            <a:chExt cx="921610" cy="491672"/>
          </a:xfrm>
        </p:grpSpPr>
        <p:sp>
          <p:nvSpPr>
            <p:cNvPr name="Freeform 7" id="7"/>
            <p:cNvSpPr/>
            <p:nvPr/>
          </p:nvSpPr>
          <p:spPr>
            <a:xfrm flipH="false" flipV="false" rot="0">
              <a:off x="0" y="0"/>
              <a:ext cx="921610" cy="491672"/>
            </a:xfrm>
            <a:custGeom>
              <a:avLst/>
              <a:gdLst/>
              <a:ahLst/>
              <a:cxnLst/>
              <a:rect r="r" b="b" t="t" l="l"/>
              <a:pathLst>
                <a:path h="491672" w="921610">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name="TextBox 8" id="8"/>
            <p:cNvSpPr txBox="true"/>
            <p:nvPr/>
          </p:nvSpPr>
          <p:spPr>
            <a:xfrm>
              <a:off x="0" y="-47625"/>
              <a:ext cx="921610" cy="539297"/>
            </a:xfrm>
            <a:prstGeom prst="rect">
              <a:avLst/>
            </a:prstGeom>
          </p:spPr>
          <p:txBody>
            <a:bodyPr anchor="ctr" rtlCol="false" tIns="50800" lIns="50800" bIns="50800" rIns="50800"/>
            <a:lstStyle/>
            <a:p>
              <a:pPr algn="ctr">
                <a:lnSpc>
                  <a:spcPts val="3032"/>
                </a:lnSpc>
              </a:pPr>
            </a:p>
          </p:txBody>
        </p:sp>
      </p:grpSp>
      <p:sp>
        <p:nvSpPr>
          <p:cNvPr name="TextBox 9" id="9"/>
          <p:cNvSpPr txBox="true"/>
          <p:nvPr/>
        </p:nvSpPr>
        <p:spPr>
          <a:xfrm rot="0">
            <a:off x="1998166" y="5125968"/>
            <a:ext cx="3018068" cy="3962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Red Wine Quality</a:t>
            </a:r>
          </a:p>
        </p:txBody>
      </p:sp>
      <p:sp>
        <p:nvSpPr>
          <p:cNvPr name="TextBox 10" id="10"/>
          <p:cNvSpPr txBox="true"/>
          <p:nvPr/>
        </p:nvSpPr>
        <p:spPr>
          <a:xfrm rot="0">
            <a:off x="2244035" y="6855256"/>
            <a:ext cx="2526330" cy="1298575"/>
          </a:xfrm>
          <a:prstGeom prst="rect">
            <a:avLst/>
          </a:prstGeom>
        </p:spPr>
        <p:txBody>
          <a:bodyPr anchor="t" rtlCol="false" tIns="0" lIns="0" bIns="0" rIns="0">
            <a:spAutoFit/>
          </a:bodyPr>
          <a:lstStyle/>
          <a:p>
            <a:pPr algn="ctr">
              <a:lnSpc>
                <a:spcPts val="3499"/>
              </a:lnSpc>
            </a:pPr>
            <a:r>
              <a:rPr lang="en-US" sz="2499">
                <a:solidFill>
                  <a:srgbClr val="2D2261"/>
                </a:solidFill>
                <a:latin typeface="Red Hat Display"/>
                <a:ea typeface="Red Hat Display"/>
                <a:cs typeface="Red Hat Display"/>
                <a:sym typeface="Red Hat Display"/>
              </a:rPr>
              <a:t>599 mẫu x 12 cột</a:t>
            </a:r>
            <a:r>
              <a:rPr lang="en-US" sz="2499">
                <a:solidFill>
                  <a:srgbClr val="2D2261"/>
                </a:solidFill>
                <a:latin typeface="Red Hat Display"/>
                <a:ea typeface="Red Hat Display"/>
                <a:cs typeface="Red Hat Display"/>
                <a:sym typeface="Red Hat Display"/>
              </a:rPr>
              <a:t> (phân loại chất lượng rượu vang)</a:t>
            </a:r>
          </a:p>
        </p:txBody>
      </p:sp>
      <p:grpSp>
        <p:nvGrpSpPr>
          <p:cNvPr name="Group 11" id="11"/>
          <p:cNvGrpSpPr/>
          <p:nvPr/>
        </p:nvGrpSpPr>
        <p:grpSpPr>
          <a:xfrm rot="0">
            <a:off x="5627615" y="5343105"/>
            <a:ext cx="3499238" cy="3697518"/>
            <a:chOff x="0" y="0"/>
            <a:chExt cx="921610" cy="973832"/>
          </a:xfrm>
        </p:grpSpPr>
        <p:sp>
          <p:nvSpPr>
            <p:cNvPr name="Freeform 12" id="12"/>
            <p:cNvSpPr/>
            <p:nvPr/>
          </p:nvSpPr>
          <p:spPr>
            <a:xfrm flipH="false" flipV="false" rot="0">
              <a:off x="0" y="0"/>
              <a:ext cx="921610" cy="973832"/>
            </a:xfrm>
            <a:custGeom>
              <a:avLst/>
              <a:gdLst/>
              <a:ahLst/>
              <a:cxnLst/>
              <a:rect r="r" b="b" t="t" l="l"/>
              <a:pathLst>
                <a:path h="973832" w="921610">
                  <a:moveTo>
                    <a:pt x="66374" y="0"/>
                  </a:moveTo>
                  <a:lnTo>
                    <a:pt x="855236" y="0"/>
                  </a:lnTo>
                  <a:cubicBezTo>
                    <a:pt x="891893" y="0"/>
                    <a:pt x="921610" y="29717"/>
                    <a:pt x="921610" y="66374"/>
                  </a:cubicBezTo>
                  <a:lnTo>
                    <a:pt x="921610" y="907458"/>
                  </a:lnTo>
                  <a:cubicBezTo>
                    <a:pt x="921610" y="944115"/>
                    <a:pt x="891893" y="973832"/>
                    <a:pt x="855236" y="973832"/>
                  </a:cubicBezTo>
                  <a:lnTo>
                    <a:pt x="66374" y="973832"/>
                  </a:lnTo>
                  <a:cubicBezTo>
                    <a:pt x="29717" y="973832"/>
                    <a:pt x="0" y="944115"/>
                    <a:pt x="0" y="907458"/>
                  </a:cubicBezTo>
                  <a:lnTo>
                    <a:pt x="0" y="66374"/>
                  </a:lnTo>
                  <a:cubicBezTo>
                    <a:pt x="0" y="29717"/>
                    <a:pt x="29717" y="0"/>
                    <a:pt x="66374" y="0"/>
                  </a:cubicBezTo>
                  <a:close/>
                </a:path>
              </a:pathLst>
            </a:custGeom>
            <a:solidFill>
              <a:srgbClr val="ECE1D7"/>
            </a:solidFill>
          </p:spPr>
        </p:sp>
        <p:sp>
          <p:nvSpPr>
            <p:cNvPr name="TextBox 13" id="13"/>
            <p:cNvSpPr txBox="true"/>
            <p:nvPr/>
          </p:nvSpPr>
          <p:spPr>
            <a:xfrm>
              <a:off x="0" y="-38100"/>
              <a:ext cx="921610" cy="1011932"/>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5627615" y="4409698"/>
            <a:ext cx="3499238" cy="1866815"/>
            <a:chOff x="0" y="0"/>
            <a:chExt cx="921610" cy="491672"/>
          </a:xfrm>
        </p:grpSpPr>
        <p:sp>
          <p:nvSpPr>
            <p:cNvPr name="Freeform 15" id="15"/>
            <p:cNvSpPr/>
            <p:nvPr/>
          </p:nvSpPr>
          <p:spPr>
            <a:xfrm flipH="false" flipV="false" rot="0">
              <a:off x="0" y="0"/>
              <a:ext cx="921610" cy="491672"/>
            </a:xfrm>
            <a:custGeom>
              <a:avLst/>
              <a:gdLst/>
              <a:ahLst/>
              <a:cxnLst/>
              <a:rect r="r" b="b" t="t" l="l"/>
              <a:pathLst>
                <a:path h="491672" w="921610">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name="TextBox 16" id="16"/>
            <p:cNvSpPr txBox="true"/>
            <p:nvPr/>
          </p:nvSpPr>
          <p:spPr>
            <a:xfrm>
              <a:off x="0" y="-47625"/>
              <a:ext cx="921610" cy="539297"/>
            </a:xfrm>
            <a:prstGeom prst="rect">
              <a:avLst/>
            </a:prstGeom>
          </p:spPr>
          <p:txBody>
            <a:bodyPr anchor="ctr" rtlCol="false" tIns="50800" lIns="50800" bIns="50800" rIns="50800"/>
            <a:lstStyle/>
            <a:p>
              <a:pPr algn="ctr">
                <a:lnSpc>
                  <a:spcPts val="3032"/>
                </a:lnSpc>
              </a:pPr>
            </a:p>
          </p:txBody>
        </p:sp>
      </p:grpSp>
      <p:sp>
        <p:nvSpPr>
          <p:cNvPr name="TextBox 17" id="17"/>
          <p:cNvSpPr txBox="true"/>
          <p:nvPr/>
        </p:nvSpPr>
        <p:spPr>
          <a:xfrm rot="0">
            <a:off x="6010069" y="4918637"/>
            <a:ext cx="2734329" cy="8153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Pima Indians Diabetes</a:t>
            </a:r>
          </a:p>
        </p:txBody>
      </p:sp>
      <p:sp>
        <p:nvSpPr>
          <p:cNvPr name="TextBox 18" id="18"/>
          <p:cNvSpPr txBox="true"/>
          <p:nvPr/>
        </p:nvSpPr>
        <p:spPr>
          <a:xfrm rot="0">
            <a:off x="5918966" y="6855256"/>
            <a:ext cx="2953357" cy="1298575"/>
          </a:xfrm>
          <a:prstGeom prst="rect">
            <a:avLst/>
          </a:prstGeom>
        </p:spPr>
        <p:txBody>
          <a:bodyPr anchor="t" rtlCol="false" tIns="0" lIns="0" bIns="0" rIns="0">
            <a:spAutoFit/>
          </a:bodyPr>
          <a:lstStyle/>
          <a:p>
            <a:pPr algn="ctr">
              <a:lnSpc>
                <a:spcPts val="3499"/>
              </a:lnSpc>
            </a:pPr>
            <a:r>
              <a:rPr lang="en-US" sz="2499">
                <a:solidFill>
                  <a:srgbClr val="2D2261"/>
                </a:solidFill>
                <a:latin typeface="Red Hat Display"/>
                <a:ea typeface="Red Hat Display"/>
                <a:cs typeface="Red Hat Display"/>
                <a:sym typeface="Red Hat Display"/>
              </a:rPr>
              <a:t>768 mẫu x 9 cột (dự</a:t>
            </a:r>
            <a:r>
              <a:rPr lang="en-US" sz="2499">
                <a:solidFill>
                  <a:srgbClr val="2D2261"/>
                </a:solidFill>
                <a:latin typeface="Red Hat Display"/>
                <a:ea typeface="Red Hat Display"/>
                <a:cs typeface="Red Hat Display"/>
                <a:sym typeface="Red Hat Display"/>
              </a:rPr>
              <a:t> đoán nguy cơ mắc bệnh tiểu đường</a:t>
            </a:r>
          </a:p>
        </p:txBody>
      </p:sp>
      <p:grpSp>
        <p:nvGrpSpPr>
          <p:cNvPr name="Group 19" id="19"/>
          <p:cNvGrpSpPr/>
          <p:nvPr/>
        </p:nvGrpSpPr>
        <p:grpSpPr>
          <a:xfrm rot="0">
            <a:off x="9497648" y="5343105"/>
            <a:ext cx="3499238" cy="3697518"/>
            <a:chOff x="0" y="0"/>
            <a:chExt cx="921610" cy="973832"/>
          </a:xfrm>
        </p:grpSpPr>
        <p:sp>
          <p:nvSpPr>
            <p:cNvPr name="Freeform 20" id="20"/>
            <p:cNvSpPr/>
            <p:nvPr/>
          </p:nvSpPr>
          <p:spPr>
            <a:xfrm flipH="false" flipV="false" rot="0">
              <a:off x="0" y="0"/>
              <a:ext cx="921610" cy="973832"/>
            </a:xfrm>
            <a:custGeom>
              <a:avLst/>
              <a:gdLst/>
              <a:ahLst/>
              <a:cxnLst/>
              <a:rect r="r" b="b" t="t" l="l"/>
              <a:pathLst>
                <a:path h="973832" w="921610">
                  <a:moveTo>
                    <a:pt x="66374" y="0"/>
                  </a:moveTo>
                  <a:lnTo>
                    <a:pt x="855236" y="0"/>
                  </a:lnTo>
                  <a:cubicBezTo>
                    <a:pt x="891893" y="0"/>
                    <a:pt x="921610" y="29717"/>
                    <a:pt x="921610" y="66374"/>
                  </a:cubicBezTo>
                  <a:lnTo>
                    <a:pt x="921610" y="907458"/>
                  </a:lnTo>
                  <a:cubicBezTo>
                    <a:pt x="921610" y="944115"/>
                    <a:pt x="891893" y="973832"/>
                    <a:pt x="855236" y="973832"/>
                  </a:cubicBezTo>
                  <a:lnTo>
                    <a:pt x="66374" y="973832"/>
                  </a:lnTo>
                  <a:cubicBezTo>
                    <a:pt x="29717" y="973832"/>
                    <a:pt x="0" y="944115"/>
                    <a:pt x="0" y="907458"/>
                  </a:cubicBezTo>
                  <a:lnTo>
                    <a:pt x="0" y="66374"/>
                  </a:lnTo>
                  <a:cubicBezTo>
                    <a:pt x="0" y="29717"/>
                    <a:pt x="29717" y="0"/>
                    <a:pt x="66374" y="0"/>
                  </a:cubicBezTo>
                  <a:close/>
                </a:path>
              </a:pathLst>
            </a:custGeom>
            <a:solidFill>
              <a:srgbClr val="ECE1D7"/>
            </a:solidFill>
          </p:spPr>
        </p:sp>
        <p:sp>
          <p:nvSpPr>
            <p:cNvPr name="TextBox 21" id="21"/>
            <p:cNvSpPr txBox="true"/>
            <p:nvPr/>
          </p:nvSpPr>
          <p:spPr>
            <a:xfrm>
              <a:off x="0" y="-38100"/>
              <a:ext cx="921610" cy="1011932"/>
            </a:xfrm>
            <a:prstGeom prst="rect">
              <a:avLst/>
            </a:prstGeom>
          </p:spPr>
          <p:txBody>
            <a:bodyPr anchor="ctr" rtlCol="false" tIns="50800" lIns="50800" bIns="50800" rIns="50800"/>
            <a:lstStyle/>
            <a:p>
              <a:pPr algn="ctr">
                <a:lnSpc>
                  <a:spcPts val="3499"/>
                </a:lnSpc>
              </a:pPr>
            </a:p>
          </p:txBody>
        </p:sp>
      </p:grpSp>
      <p:grpSp>
        <p:nvGrpSpPr>
          <p:cNvPr name="Group 22" id="22"/>
          <p:cNvGrpSpPr/>
          <p:nvPr/>
        </p:nvGrpSpPr>
        <p:grpSpPr>
          <a:xfrm rot="0">
            <a:off x="9497648" y="4409698"/>
            <a:ext cx="3499238" cy="1866815"/>
            <a:chOff x="0" y="0"/>
            <a:chExt cx="921610" cy="491672"/>
          </a:xfrm>
        </p:grpSpPr>
        <p:sp>
          <p:nvSpPr>
            <p:cNvPr name="Freeform 23" id="23"/>
            <p:cNvSpPr/>
            <p:nvPr/>
          </p:nvSpPr>
          <p:spPr>
            <a:xfrm flipH="false" flipV="false" rot="0">
              <a:off x="0" y="0"/>
              <a:ext cx="921610" cy="491672"/>
            </a:xfrm>
            <a:custGeom>
              <a:avLst/>
              <a:gdLst/>
              <a:ahLst/>
              <a:cxnLst/>
              <a:rect r="r" b="b" t="t" l="l"/>
              <a:pathLst>
                <a:path h="491672" w="921610">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name="TextBox 24" id="24"/>
            <p:cNvSpPr txBox="true"/>
            <p:nvPr/>
          </p:nvSpPr>
          <p:spPr>
            <a:xfrm>
              <a:off x="0" y="-47625"/>
              <a:ext cx="921610" cy="539297"/>
            </a:xfrm>
            <a:prstGeom prst="rect">
              <a:avLst/>
            </a:prstGeom>
          </p:spPr>
          <p:txBody>
            <a:bodyPr anchor="ctr" rtlCol="false" tIns="50800" lIns="50800" bIns="50800" rIns="50800"/>
            <a:lstStyle/>
            <a:p>
              <a:pPr algn="ctr">
                <a:lnSpc>
                  <a:spcPts val="3032"/>
                </a:lnSpc>
              </a:pPr>
            </a:p>
          </p:txBody>
        </p:sp>
      </p:grpSp>
      <p:sp>
        <p:nvSpPr>
          <p:cNvPr name="TextBox 25" id="25"/>
          <p:cNvSpPr txBox="true"/>
          <p:nvPr/>
        </p:nvSpPr>
        <p:spPr>
          <a:xfrm rot="0">
            <a:off x="9880103" y="5125968"/>
            <a:ext cx="2734329" cy="3962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Online Retail</a:t>
            </a:r>
          </a:p>
        </p:txBody>
      </p:sp>
      <p:sp>
        <p:nvSpPr>
          <p:cNvPr name="TextBox 26" id="26"/>
          <p:cNvSpPr txBox="true"/>
          <p:nvPr/>
        </p:nvSpPr>
        <p:spPr>
          <a:xfrm rot="0">
            <a:off x="9836852" y="6636181"/>
            <a:ext cx="2820829" cy="1736725"/>
          </a:xfrm>
          <a:prstGeom prst="rect">
            <a:avLst/>
          </a:prstGeom>
        </p:spPr>
        <p:txBody>
          <a:bodyPr anchor="t" rtlCol="false" tIns="0" lIns="0" bIns="0" rIns="0">
            <a:spAutoFit/>
          </a:bodyPr>
          <a:lstStyle/>
          <a:p>
            <a:pPr algn="ctr">
              <a:lnSpc>
                <a:spcPts val="3499"/>
              </a:lnSpc>
            </a:pPr>
            <a:r>
              <a:rPr lang="en-US" sz="2499">
                <a:solidFill>
                  <a:srgbClr val="2D2261"/>
                </a:solidFill>
                <a:latin typeface="Red Hat Display"/>
                <a:ea typeface="Red Hat Display"/>
                <a:cs typeface="Red Hat Display"/>
                <a:sym typeface="Red Hat Display"/>
              </a:rPr>
              <a:t>541.909 giao dịch x 8 cột (phân</a:t>
            </a:r>
            <a:r>
              <a:rPr lang="en-US" sz="2499">
                <a:solidFill>
                  <a:srgbClr val="2D2261"/>
                </a:solidFill>
                <a:latin typeface="Red Hat Display"/>
                <a:ea typeface="Red Hat Display"/>
                <a:cs typeface="Red Hat Display"/>
                <a:sym typeface="Red Hat Display"/>
              </a:rPr>
              <a:t> tích hành vi bán lẻ trực tuyến)610</a:t>
            </a:r>
          </a:p>
        </p:txBody>
      </p:sp>
      <p:grpSp>
        <p:nvGrpSpPr>
          <p:cNvPr name="Group 27" id="27"/>
          <p:cNvGrpSpPr/>
          <p:nvPr/>
        </p:nvGrpSpPr>
        <p:grpSpPr>
          <a:xfrm rot="0">
            <a:off x="13367682" y="5343105"/>
            <a:ext cx="3499238" cy="3697518"/>
            <a:chOff x="0" y="0"/>
            <a:chExt cx="921610" cy="973832"/>
          </a:xfrm>
        </p:grpSpPr>
        <p:sp>
          <p:nvSpPr>
            <p:cNvPr name="Freeform 28" id="28"/>
            <p:cNvSpPr/>
            <p:nvPr/>
          </p:nvSpPr>
          <p:spPr>
            <a:xfrm flipH="false" flipV="false" rot="0">
              <a:off x="0" y="0"/>
              <a:ext cx="921610" cy="973832"/>
            </a:xfrm>
            <a:custGeom>
              <a:avLst/>
              <a:gdLst/>
              <a:ahLst/>
              <a:cxnLst/>
              <a:rect r="r" b="b" t="t" l="l"/>
              <a:pathLst>
                <a:path h="973832" w="921610">
                  <a:moveTo>
                    <a:pt x="66374" y="0"/>
                  </a:moveTo>
                  <a:lnTo>
                    <a:pt x="855236" y="0"/>
                  </a:lnTo>
                  <a:cubicBezTo>
                    <a:pt x="891893" y="0"/>
                    <a:pt x="921610" y="29717"/>
                    <a:pt x="921610" y="66374"/>
                  </a:cubicBezTo>
                  <a:lnTo>
                    <a:pt x="921610" y="907458"/>
                  </a:lnTo>
                  <a:cubicBezTo>
                    <a:pt x="921610" y="944115"/>
                    <a:pt x="891893" y="973832"/>
                    <a:pt x="855236" y="973832"/>
                  </a:cubicBezTo>
                  <a:lnTo>
                    <a:pt x="66374" y="973832"/>
                  </a:lnTo>
                  <a:cubicBezTo>
                    <a:pt x="29717" y="973832"/>
                    <a:pt x="0" y="944115"/>
                    <a:pt x="0" y="907458"/>
                  </a:cubicBezTo>
                  <a:lnTo>
                    <a:pt x="0" y="66374"/>
                  </a:lnTo>
                  <a:cubicBezTo>
                    <a:pt x="0" y="29717"/>
                    <a:pt x="29717" y="0"/>
                    <a:pt x="66374" y="0"/>
                  </a:cubicBezTo>
                  <a:close/>
                </a:path>
              </a:pathLst>
            </a:custGeom>
            <a:solidFill>
              <a:srgbClr val="ECE1D7"/>
            </a:solidFill>
          </p:spPr>
        </p:sp>
        <p:sp>
          <p:nvSpPr>
            <p:cNvPr name="TextBox 29" id="29"/>
            <p:cNvSpPr txBox="true"/>
            <p:nvPr/>
          </p:nvSpPr>
          <p:spPr>
            <a:xfrm>
              <a:off x="0" y="-38100"/>
              <a:ext cx="921610" cy="1011932"/>
            </a:xfrm>
            <a:prstGeom prst="rect">
              <a:avLst/>
            </a:prstGeom>
          </p:spPr>
          <p:txBody>
            <a:bodyPr anchor="ctr" rtlCol="false" tIns="50800" lIns="50800" bIns="50800" rIns="50800"/>
            <a:lstStyle/>
            <a:p>
              <a:pPr algn="ctr">
                <a:lnSpc>
                  <a:spcPts val="3499"/>
                </a:lnSpc>
              </a:pPr>
            </a:p>
          </p:txBody>
        </p:sp>
      </p:grpSp>
      <p:grpSp>
        <p:nvGrpSpPr>
          <p:cNvPr name="Group 30" id="30"/>
          <p:cNvGrpSpPr/>
          <p:nvPr/>
        </p:nvGrpSpPr>
        <p:grpSpPr>
          <a:xfrm rot="0">
            <a:off x="13367682" y="4409698"/>
            <a:ext cx="3499238" cy="1866815"/>
            <a:chOff x="0" y="0"/>
            <a:chExt cx="921610" cy="491672"/>
          </a:xfrm>
        </p:grpSpPr>
        <p:sp>
          <p:nvSpPr>
            <p:cNvPr name="Freeform 31" id="31"/>
            <p:cNvSpPr/>
            <p:nvPr/>
          </p:nvSpPr>
          <p:spPr>
            <a:xfrm flipH="false" flipV="false" rot="0">
              <a:off x="0" y="0"/>
              <a:ext cx="921610" cy="491672"/>
            </a:xfrm>
            <a:custGeom>
              <a:avLst/>
              <a:gdLst/>
              <a:ahLst/>
              <a:cxnLst/>
              <a:rect r="r" b="b" t="t" l="l"/>
              <a:pathLst>
                <a:path h="491672" w="921610">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name="TextBox 32" id="32"/>
            <p:cNvSpPr txBox="true"/>
            <p:nvPr/>
          </p:nvSpPr>
          <p:spPr>
            <a:xfrm>
              <a:off x="0" y="-47625"/>
              <a:ext cx="921610" cy="539297"/>
            </a:xfrm>
            <a:prstGeom prst="rect">
              <a:avLst/>
            </a:prstGeom>
          </p:spPr>
          <p:txBody>
            <a:bodyPr anchor="ctr" rtlCol="false" tIns="50800" lIns="50800" bIns="50800" rIns="50800"/>
            <a:lstStyle/>
            <a:p>
              <a:pPr algn="ctr">
                <a:lnSpc>
                  <a:spcPts val="3032"/>
                </a:lnSpc>
              </a:pPr>
            </a:p>
          </p:txBody>
        </p:sp>
      </p:grpSp>
      <p:sp>
        <p:nvSpPr>
          <p:cNvPr name="TextBox 33" id="33"/>
          <p:cNvSpPr txBox="true"/>
          <p:nvPr/>
        </p:nvSpPr>
        <p:spPr>
          <a:xfrm rot="0">
            <a:off x="13304338" y="4709087"/>
            <a:ext cx="3619941" cy="12344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Customer Personality Analysis (Marketing Campaign)</a:t>
            </a:r>
          </a:p>
        </p:txBody>
      </p:sp>
      <p:sp>
        <p:nvSpPr>
          <p:cNvPr name="TextBox 34" id="34"/>
          <p:cNvSpPr txBox="true"/>
          <p:nvPr/>
        </p:nvSpPr>
        <p:spPr>
          <a:xfrm rot="0">
            <a:off x="13673219" y="6855256"/>
            <a:ext cx="2882179" cy="1298575"/>
          </a:xfrm>
          <a:prstGeom prst="rect">
            <a:avLst/>
          </a:prstGeom>
        </p:spPr>
        <p:txBody>
          <a:bodyPr anchor="t" rtlCol="false" tIns="0" lIns="0" bIns="0" rIns="0">
            <a:spAutoFit/>
          </a:bodyPr>
          <a:lstStyle/>
          <a:p>
            <a:pPr algn="ctr">
              <a:lnSpc>
                <a:spcPts val="3499"/>
              </a:lnSpc>
            </a:pPr>
            <a:r>
              <a:rPr lang="en-US" sz="2499">
                <a:solidFill>
                  <a:srgbClr val="2D2261"/>
                </a:solidFill>
                <a:latin typeface="Red Hat Display"/>
                <a:ea typeface="Red Hat Display"/>
                <a:cs typeface="Red Hat Display"/>
                <a:sym typeface="Red Hat Display"/>
              </a:rPr>
              <a:t>2.240 mẫu x 29</a:t>
            </a:r>
            <a:r>
              <a:rPr lang="en-US" sz="2499">
                <a:solidFill>
                  <a:srgbClr val="2D2261"/>
                </a:solidFill>
                <a:latin typeface="Red Hat Display"/>
                <a:ea typeface="Red Hat Display"/>
                <a:cs typeface="Red Hat Display"/>
                <a:sym typeface="Red Hat Display"/>
              </a:rPr>
              <a:t> cột (phân khúc khách hàng)</a:t>
            </a:r>
          </a:p>
        </p:txBody>
      </p:sp>
      <p:sp>
        <p:nvSpPr>
          <p:cNvPr name="Freeform 35" id="35"/>
          <p:cNvSpPr/>
          <p:nvPr/>
        </p:nvSpPr>
        <p:spPr>
          <a:xfrm flipH="false" flipV="false" rot="-2080684">
            <a:off x="9810400" y="9630625"/>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6" id="36"/>
          <p:cNvSpPr/>
          <p:nvPr/>
        </p:nvSpPr>
        <p:spPr>
          <a:xfrm flipH="false" flipV="false" rot="9426524">
            <a:off x="-4707296" y="-4564712"/>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37" id="37"/>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8" id="38"/>
          <p:cNvSpPr/>
          <p:nvPr/>
        </p:nvSpPr>
        <p:spPr>
          <a:xfrm flipH="false" flipV="false" rot="2830696">
            <a:off x="16598587" y="-86027"/>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9" id="39"/>
          <p:cNvSpPr txBox="true"/>
          <p:nvPr/>
        </p:nvSpPr>
        <p:spPr>
          <a:xfrm rot="0">
            <a:off x="3198201" y="1364873"/>
            <a:ext cx="12598895" cy="2635250"/>
          </a:xfrm>
          <a:prstGeom prst="rect">
            <a:avLst/>
          </a:prstGeom>
        </p:spPr>
        <p:txBody>
          <a:bodyPr anchor="t" rtlCol="false" tIns="0" lIns="0" bIns="0" rIns="0">
            <a:spAutoFit/>
          </a:bodyPr>
          <a:lstStyle/>
          <a:p>
            <a:pPr algn="ctr">
              <a:lnSpc>
                <a:spcPts val="7000"/>
              </a:lnSpc>
            </a:pPr>
            <a:r>
              <a:rPr lang="en-US" b="true" sz="5000">
                <a:solidFill>
                  <a:srgbClr val="2D2261"/>
                </a:solidFill>
                <a:latin typeface="Red Hat Display Bold"/>
                <a:ea typeface="Red Hat Display Bold"/>
                <a:cs typeface="Red Hat Display Bold"/>
                <a:sym typeface="Red Hat Display Bold"/>
              </a:rPr>
              <a:t>CHƯƠNG 1. TỔNG QUAN</a:t>
            </a:r>
            <a:r>
              <a:rPr lang="en-US" b="true" sz="5000">
                <a:solidFill>
                  <a:srgbClr val="2D2261"/>
                </a:solidFill>
                <a:latin typeface="Red Hat Display Bold"/>
                <a:ea typeface="Red Hat Display Bold"/>
                <a:cs typeface="Red Hat Display Bold"/>
                <a:sym typeface="Red Hat Display Bold"/>
              </a:rPr>
              <a:t> VÀ MỤC TIÊU PHÂN TÍCH KHÁM PHÁ DỮ LIỆU (EDA)</a:t>
            </a:r>
          </a:p>
          <a:p>
            <a:pPr algn="ctr">
              <a:lnSpc>
                <a:spcPts val="70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2617891" y="1106511"/>
            <a:ext cx="13052218" cy="2635250"/>
          </a:xfrm>
          <a:prstGeom prst="rect">
            <a:avLst/>
          </a:prstGeom>
        </p:spPr>
        <p:txBody>
          <a:bodyPr anchor="t" rtlCol="false" tIns="0" lIns="0" bIns="0" rIns="0">
            <a:spAutoFit/>
          </a:bodyPr>
          <a:lstStyle/>
          <a:p>
            <a:pPr algn="ctr">
              <a:lnSpc>
                <a:spcPts val="7000"/>
              </a:lnSpc>
            </a:pPr>
            <a:r>
              <a:rPr lang="en-US" b="true" sz="5000">
                <a:solidFill>
                  <a:srgbClr val="2D2261"/>
                </a:solidFill>
                <a:latin typeface="Red Hat Display Bold"/>
                <a:ea typeface="Red Hat Display Bold"/>
                <a:cs typeface="Red Hat Display Bold"/>
                <a:sym typeface="Red Hat Display Bold"/>
              </a:rPr>
              <a:t>CHƯƠNG 1. TỔNG QUAN</a:t>
            </a:r>
            <a:r>
              <a:rPr lang="en-US" b="true" sz="5000">
                <a:solidFill>
                  <a:srgbClr val="2D2261"/>
                </a:solidFill>
                <a:latin typeface="Red Hat Display Bold"/>
                <a:ea typeface="Red Hat Display Bold"/>
                <a:cs typeface="Red Hat Display Bold"/>
                <a:sym typeface="Red Hat Display Bold"/>
              </a:rPr>
              <a:t> VÀ MỤC TIÊU PHÂN TÍCH KHÁM PHÁ DỮ LIỆU (EDA)</a:t>
            </a:r>
          </a:p>
          <a:p>
            <a:pPr algn="ctr">
              <a:lnSpc>
                <a:spcPts val="7000"/>
              </a:lnSpc>
            </a:pPr>
          </a:p>
        </p:txBody>
      </p:sp>
      <p:grpSp>
        <p:nvGrpSpPr>
          <p:cNvPr name="Group 3" id="3"/>
          <p:cNvGrpSpPr/>
          <p:nvPr/>
        </p:nvGrpSpPr>
        <p:grpSpPr>
          <a:xfrm rot="0">
            <a:off x="2410572" y="4130381"/>
            <a:ext cx="13466856" cy="4589884"/>
            <a:chOff x="0" y="0"/>
            <a:chExt cx="3546826" cy="1208858"/>
          </a:xfrm>
        </p:grpSpPr>
        <p:sp>
          <p:nvSpPr>
            <p:cNvPr name="Freeform 4" id="4"/>
            <p:cNvSpPr/>
            <p:nvPr/>
          </p:nvSpPr>
          <p:spPr>
            <a:xfrm flipH="false" flipV="false" rot="0">
              <a:off x="0" y="0"/>
              <a:ext cx="3546826" cy="1208858"/>
            </a:xfrm>
            <a:custGeom>
              <a:avLst/>
              <a:gdLst/>
              <a:ahLst/>
              <a:cxnLst/>
              <a:rect r="r" b="b" t="t" l="l"/>
              <a:pathLst>
                <a:path h="1208858" w="3546826">
                  <a:moveTo>
                    <a:pt x="17247" y="0"/>
                  </a:moveTo>
                  <a:lnTo>
                    <a:pt x="3529580" y="0"/>
                  </a:lnTo>
                  <a:cubicBezTo>
                    <a:pt x="3534154" y="0"/>
                    <a:pt x="3538540" y="1817"/>
                    <a:pt x="3541775" y="5051"/>
                  </a:cubicBezTo>
                  <a:cubicBezTo>
                    <a:pt x="3545009" y="8286"/>
                    <a:pt x="3546826" y="12673"/>
                    <a:pt x="3546826" y="17247"/>
                  </a:cubicBezTo>
                  <a:lnTo>
                    <a:pt x="3546826" y="1191612"/>
                  </a:lnTo>
                  <a:cubicBezTo>
                    <a:pt x="3546826" y="1201137"/>
                    <a:pt x="3539105" y="1208858"/>
                    <a:pt x="3529580" y="1208858"/>
                  </a:cubicBezTo>
                  <a:lnTo>
                    <a:pt x="17247" y="1208858"/>
                  </a:lnTo>
                  <a:cubicBezTo>
                    <a:pt x="7722" y="1208858"/>
                    <a:pt x="0" y="1201137"/>
                    <a:pt x="0" y="1191612"/>
                  </a:cubicBezTo>
                  <a:lnTo>
                    <a:pt x="0" y="17247"/>
                  </a:lnTo>
                  <a:cubicBezTo>
                    <a:pt x="0" y="7722"/>
                    <a:pt x="7722" y="0"/>
                    <a:pt x="17247" y="0"/>
                  </a:cubicBezTo>
                  <a:close/>
                </a:path>
              </a:pathLst>
            </a:custGeom>
            <a:solidFill>
              <a:srgbClr val="ECE1D7"/>
            </a:solidFill>
          </p:spPr>
        </p:sp>
        <p:sp>
          <p:nvSpPr>
            <p:cNvPr name="TextBox 5" id="5"/>
            <p:cNvSpPr txBox="true"/>
            <p:nvPr/>
          </p:nvSpPr>
          <p:spPr>
            <a:xfrm>
              <a:off x="0" y="-47625"/>
              <a:ext cx="3546826" cy="1256483"/>
            </a:xfrm>
            <a:prstGeom prst="rect">
              <a:avLst/>
            </a:prstGeom>
          </p:spPr>
          <p:txBody>
            <a:bodyPr anchor="ctr" rtlCol="false" tIns="50800" lIns="50800" bIns="50800" rIns="50800"/>
            <a:lstStyle/>
            <a:p>
              <a:pPr algn="ctr">
                <a:lnSpc>
                  <a:spcPts val="3032"/>
                </a:lnSpc>
              </a:pPr>
            </a:p>
          </p:txBody>
        </p:sp>
      </p:grpSp>
      <p:grpSp>
        <p:nvGrpSpPr>
          <p:cNvPr name="Group 6" id="6"/>
          <p:cNvGrpSpPr/>
          <p:nvPr/>
        </p:nvGrpSpPr>
        <p:grpSpPr>
          <a:xfrm rot="0">
            <a:off x="2410572" y="3196973"/>
            <a:ext cx="13466856" cy="1866815"/>
            <a:chOff x="0" y="0"/>
            <a:chExt cx="3546826" cy="491672"/>
          </a:xfrm>
        </p:grpSpPr>
        <p:sp>
          <p:nvSpPr>
            <p:cNvPr name="Freeform 7" id="7"/>
            <p:cNvSpPr/>
            <p:nvPr/>
          </p:nvSpPr>
          <p:spPr>
            <a:xfrm flipH="false" flipV="false" rot="0">
              <a:off x="0" y="0"/>
              <a:ext cx="3546826" cy="491672"/>
            </a:xfrm>
            <a:custGeom>
              <a:avLst/>
              <a:gdLst/>
              <a:ahLst/>
              <a:cxnLst/>
              <a:rect r="r" b="b" t="t" l="l"/>
              <a:pathLst>
                <a:path h="491672" w="3546826">
                  <a:moveTo>
                    <a:pt x="17247" y="0"/>
                  </a:moveTo>
                  <a:lnTo>
                    <a:pt x="3529580" y="0"/>
                  </a:lnTo>
                  <a:cubicBezTo>
                    <a:pt x="3534154" y="0"/>
                    <a:pt x="3538540" y="1817"/>
                    <a:pt x="3541775" y="5051"/>
                  </a:cubicBezTo>
                  <a:cubicBezTo>
                    <a:pt x="3545009" y="8286"/>
                    <a:pt x="3546826" y="12673"/>
                    <a:pt x="3546826" y="17247"/>
                  </a:cubicBezTo>
                  <a:lnTo>
                    <a:pt x="3546826" y="474425"/>
                  </a:lnTo>
                  <a:cubicBezTo>
                    <a:pt x="3546826" y="483950"/>
                    <a:pt x="3539105" y="491672"/>
                    <a:pt x="3529580" y="491672"/>
                  </a:cubicBezTo>
                  <a:lnTo>
                    <a:pt x="17247" y="491672"/>
                  </a:lnTo>
                  <a:cubicBezTo>
                    <a:pt x="7722" y="491672"/>
                    <a:pt x="0" y="483950"/>
                    <a:pt x="0" y="474425"/>
                  </a:cubicBezTo>
                  <a:lnTo>
                    <a:pt x="0" y="17247"/>
                  </a:lnTo>
                  <a:cubicBezTo>
                    <a:pt x="0" y="7722"/>
                    <a:pt x="7722" y="0"/>
                    <a:pt x="17247" y="0"/>
                  </a:cubicBezTo>
                  <a:close/>
                </a:path>
              </a:pathLst>
            </a:custGeom>
            <a:solidFill>
              <a:srgbClr val="5B7ABE"/>
            </a:solidFill>
          </p:spPr>
        </p:sp>
        <p:sp>
          <p:nvSpPr>
            <p:cNvPr name="TextBox 8" id="8"/>
            <p:cNvSpPr txBox="true"/>
            <p:nvPr/>
          </p:nvSpPr>
          <p:spPr>
            <a:xfrm>
              <a:off x="0" y="-47625"/>
              <a:ext cx="3546826" cy="539297"/>
            </a:xfrm>
            <a:prstGeom prst="rect">
              <a:avLst/>
            </a:prstGeom>
          </p:spPr>
          <p:txBody>
            <a:bodyPr anchor="ctr" rtlCol="false" tIns="50800" lIns="50800" bIns="50800" rIns="50800"/>
            <a:lstStyle/>
            <a:p>
              <a:pPr algn="ctr">
                <a:lnSpc>
                  <a:spcPts val="3032"/>
                </a:lnSpc>
              </a:pPr>
            </a:p>
          </p:txBody>
        </p:sp>
      </p:grpSp>
      <p:sp>
        <p:nvSpPr>
          <p:cNvPr name="TextBox 9" id="9"/>
          <p:cNvSpPr txBox="true"/>
          <p:nvPr/>
        </p:nvSpPr>
        <p:spPr>
          <a:xfrm rot="0">
            <a:off x="3336465" y="3656036"/>
            <a:ext cx="11615070" cy="771525"/>
          </a:xfrm>
          <a:prstGeom prst="rect">
            <a:avLst/>
          </a:prstGeom>
        </p:spPr>
        <p:txBody>
          <a:bodyPr anchor="t" rtlCol="false" tIns="0" lIns="0" bIns="0" rIns="0">
            <a:spAutoFit/>
          </a:bodyPr>
          <a:lstStyle/>
          <a:p>
            <a:pPr algn="ctr">
              <a:lnSpc>
                <a:spcPts val="6299"/>
              </a:lnSpc>
            </a:pPr>
            <a:r>
              <a:rPr lang="en-US" b="true" sz="4500">
                <a:solidFill>
                  <a:srgbClr val="FBFCFE"/>
                </a:solidFill>
                <a:latin typeface="Red Hat Display Bold"/>
                <a:ea typeface="Red Hat Display Bold"/>
                <a:cs typeface="Red Hat Display Bold"/>
                <a:sym typeface="Red Hat Display Bold"/>
              </a:rPr>
              <a:t>Môi trường &amp; công cụ</a:t>
            </a:r>
          </a:p>
        </p:txBody>
      </p:sp>
      <p:sp>
        <p:nvSpPr>
          <p:cNvPr name="TextBox 10" id="10"/>
          <p:cNvSpPr txBox="true"/>
          <p:nvPr/>
        </p:nvSpPr>
        <p:spPr>
          <a:xfrm rot="0">
            <a:off x="2958857" y="5426032"/>
            <a:ext cx="12370286" cy="2784475"/>
          </a:xfrm>
          <a:prstGeom prst="rect">
            <a:avLst/>
          </a:prstGeom>
        </p:spPr>
        <p:txBody>
          <a:bodyPr anchor="t" rtlCol="false" tIns="0" lIns="0" bIns="0" rIns="0">
            <a:spAutoFit/>
          </a:bodyPr>
          <a:lstStyle/>
          <a:p>
            <a:pPr algn="l">
              <a:lnSpc>
                <a:spcPts val="5599"/>
              </a:lnSpc>
            </a:pPr>
            <a:r>
              <a:rPr lang="en-US" sz="3999">
                <a:solidFill>
                  <a:srgbClr val="2D2261"/>
                </a:solidFill>
                <a:latin typeface="Red Hat Display"/>
                <a:ea typeface="Red Hat Display"/>
                <a:cs typeface="Red Hat Display"/>
                <a:sym typeface="Red Hat Display"/>
              </a:rPr>
              <a:t>Ngôn ngữ Python (Jupyter/Kaggle Notebook) với các thư viện chính Pandas, NumPy, SciPy, Matplotlib, Seaborn và hai công cụ Auto-EDA là SweetViz</a:t>
            </a:r>
            <a:r>
              <a:rPr lang="en-US" sz="3999">
                <a:solidFill>
                  <a:srgbClr val="2D2261"/>
                </a:solidFill>
                <a:latin typeface="Red Hat Display"/>
                <a:ea typeface="Red Hat Display"/>
                <a:cs typeface="Red Hat Display"/>
                <a:sym typeface="Red Hat Display"/>
              </a:rPr>
              <a:t> và AutoViz</a:t>
            </a:r>
          </a:p>
        </p:txBody>
      </p:sp>
      <p:sp>
        <p:nvSpPr>
          <p:cNvPr name="Freeform 11" id="11"/>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2830696">
            <a:off x="16725082" y="-1298751"/>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779032" y="3366111"/>
            <a:ext cx="4899276" cy="3623338"/>
          </a:xfrm>
          <a:custGeom>
            <a:avLst/>
            <a:gdLst/>
            <a:ahLst/>
            <a:cxnLst/>
            <a:rect r="r" b="b" t="t" l="l"/>
            <a:pathLst>
              <a:path h="3623338" w="4899276">
                <a:moveTo>
                  <a:pt x="0" y="0"/>
                </a:moveTo>
                <a:lnTo>
                  <a:pt x="4899277" y="0"/>
                </a:lnTo>
                <a:lnTo>
                  <a:pt x="4899277"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390241" y="2958963"/>
            <a:ext cx="8937541" cy="4409059"/>
          </a:xfrm>
          <a:prstGeom prst="rect">
            <a:avLst/>
          </a:prstGeom>
        </p:spPr>
        <p:txBody>
          <a:bodyPr anchor="t" rtlCol="false" tIns="0" lIns="0" bIns="0" rIns="0">
            <a:spAutoFit/>
          </a:bodyPr>
          <a:lstStyle/>
          <a:p>
            <a:pPr algn="l">
              <a:lnSpc>
                <a:spcPts val="8708"/>
              </a:lnSpc>
            </a:pPr>
            <a:r>
              <a:rPr lang="en-US" sz="7000" b="true">
                <a:solidFill>
                  <a:srgbClr val="2D2261"/>
                </a:solidFill>
                <a:latin typeface="Red Hat Display Bold"/>
                <a:ea typeface="Red Hat Display Bold"/>
                <a:cs typeface="Red Hat Display Bold"/>
                <a:sym typeface="Red Hat Display Bold"/>
              </a:rPr>
              <a:t>CHƯƠNG 2. </a:t>
            </a:r>
          </a:p>
          <a:p>
            <a:pPr algn="l">
              <a:lnSpc>
                <a:spcPts val="8708"/>
              </a:lnSpc>
            </a:pPr>
            <a:r>
              <a:rPr lang="en-US" b="true" sz="7000">
                <a:solidFill>
                  <a:srgbClr val="2D2261"/>
                </a:solidFill>
                <a:latin typeface="Red Hat Display Bold"/>
                <a:ea typeface="Red Hat Display Bold"/>
                <a:cs typeface="Red Hat Display Bold"/>
                <a:sym typeface="Red Hat Display Bold"/>
              </a:rPr>
              <a:t>CƠ SỞ LÝ</a:t>
            </a:r>
            <a:r>
              <a:rPr lang="en-US" b="true" sz="7000">
                <a:solidFill>
                  <a:srgbClr val="2D2261"/>
                </a:solidFill>
                <a:latin typeface="Red Hat Display Bold"/>
                <a:ea typeface="Red Hat Display Bold"/>
                <a:cs typeface="Red Hat Display Bold"/>
                <a:sym typeface="Red Hat Display Bold"/>
              </a:rPr>
              <a:t> THUYẾT  THỐNG KÊ MÔ TẢ VÀ XỬ LÝ DỮ LIỆU</a:t>
            </a:r>
          </a:p>
        </p:txBody>
      </p:sp>
      <p:sp>
        <p:nvSpPr>
          <p:cNvPr name="Freeform 4" id="4"/>
          <p:cNvSpPr/>
          <p:nvPr/>
        </p:nvSpPr>
        <p:spPr>
          <a:xfrm flipH="false" flipV="false" rot="0">
            <a:off x="13551829" y="-1264706"/>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635325">
            <a:off x="-778476" y="7658899"/>
            <a:ext cx="7907020" cy="6699403"/>
          </a:xfrm>
          <a:custGeom>
            <a:avLst/>
            <a:gdLst/>
            <a:ahLst/>
            <a:cxnLst/>
            <a:rect r="r" b="b" t="t" l="l"/>
            <a:pathLst>
              <a:path h="6699403" w="7907020">
                <a:moveTo>
                  <a:pt x="0" y="0"/>
                </a:moveTo>
                <a:lnTo>
                  <a:pt x="7907021" y="0"/>
                </a:lnTo>
                <a:lnTo>
                  <a:pt x="7907021" y="6699402"/>
                </a:lnTo>
                <a:lnTo>
                  <a:pt x="0" y="6699402"/>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26878">
            <a:off x="638044" y="-636759"/>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830696">
            <a:off x="14397556" y="6925832"/>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1922435" y="2280960"/>
            <a:ext cx="3499238" cy="5929548"/>
            <a:chOff x="0" y="0"/>
            <a:chExt cx="921610" cy="1561692"/>
          </a:xfrm>
        </p:grpSpPr>
        <p:sp>
          <p:nvSpPr>
            <p:cNvPr name="Freeform 3" id="3"/>
            <p:cNvSpPr/>
            <p:nvPr/>
          </p:nvSpPr>
          <p:spPr>
            <a:xfrm flipH="false" flipV="false" rot="0">
              <a:off x="0" y="0"/>
              <a:ext cx="921610" cy="1561692"/>
            </a:xfrm>
            <a:custGeom>
              <a:avLst/>
              <a:gdLst/>
              <a:ahLst/>
              <a:cxnLst/>
              <a:rect r="r" b="b" t="t" l="l"/>
              <a:pathLst>
                <a:path h="1561692" w="921610">
                  <a:moveTo>
                    <a:pt x="66374" y="0"/>
                  </a:moveTo>
                  <a:lnTo>
                    <a:pt x="855236" y="0"/>
                  </a:lnTo>
                  <a:cubicBezTo>
                    <a:pt x="891893" y="0"/>
                    <a:pt x="921610" y="29717"/>
                    <a:pt x="921610" y="66374"/>
                  </a:cubicBezTo>
                  <a:lnTo>
                    <a:pt x="921610" y="1495318"/>
                  </a:lnTo>
                  <a:cubicBezTo>
                    <a:pt x="921610" y="1531975"/>
                    <a:pt x="891893" y="1561692"/>
                    <a:pt x="855236" y="1561692"/>
                  </a:cubicBezTo>
                  <a:lnTo>
                    <a:pt x="66374" y="1561692"/>
                  </a:lnTo>
                  <a:cubicBezTo>
                    <a:pt x="29717" y="1561692"/>
                    <a:pt x="0" y="1531975"/>
                    <a:pt x="0" y="1495318"/>
                  </a:cubicBezTo>
                  <a:lnTo>
                    <a:pt x="0" y="66374"/>
                  </a:lnTo>
                  <a:cubicBezTo>
                    <a:pt x="0" y="29717"/>
                    <a:pt x="29717" y="0"/>
                    <a:pt x="66374" y="0"/>
                  </a:cubicBezTo>
                  <a:close/>
                </a:path>
              </a:pathLst>
            </a:custGeom>
            <a:solidFill>
              <a:srgbClr val="ECE1D7"/>
            </a:solidFill>
          </p:spPr>
        </p:sp>
        <p:sp>
          <p:nvSpPr>
            <p:cNvPr name="TextBox 4" id="4"/>
            <p:cNvSpPr txBox="true"/>
            <p:nvPr/>
          </p:nvSpPr>
          <p:spPr>
            <a:xfrm>
              <a:off x="0" y="-47625"/>
              <a:ext cx="921610" cy="1609317"/>
            </a:xfrm>
            <a:prstGeom prst="rect">
              <a:avLst/>
            </a:prstGeom>
          </p:spPr>
          <p:txBody>
            <a:bodyPr anchor="ctr" rtlCol="false" tIns="50800" lIns="50800" bIns="50800" rIns="50800"/>
            <a:lstStyle/>
            <a:p>
              <a:pPr algn="ctr">
                <a:lnSpc>
                  <a:spcPts val="2800"/>
                </a:lnSpc>
              </a:pPr>
            </a:p>
          </p:txBody>
        </p:sp>
      </p:grpSp>
      <p:grpSp>
        <p:nvGrpSpPr>
          <p:cNvPr name="Group 5" id="5"/>
          <p:cNvGrpSpPr/>
          <p:nvPr/>
        </p:nvGrpSpPr>
        <p:grpSpPr>
          <a:xfrm rot="0">
            <a:off x="1922435" y="1347552"/>
            <a:ext cx="3499238" cy="1866815"/>
            <a:chOff x="0" y="0"/>
            <a:chExt cx="921610" cy="491672"/>
          </a:xfrm>
        </p:grpSpPr>
        <p:sp>
          <p:nvSpPr>
            <p:cNvPr name="Freeform 6" id="6"/>
            <p:cNvSpPr/>
            <p:nvPr/>
          </p:nvSpPr>
          <p:spPr>
            <a:xfrm flipH="false" flipV="false" rot="0">
              <a:off x="0" y="0"/>
              <a:ext cx="921610" cy="491672"/>
            </a:xfrm>
            <a:custGeom>
              <a:avLst/>
              <a:gdLst/>
              <a:ahLst/>
              <a:cxnLst/>
              <a:rect r="r" b="b" t="t" l="l"/>
              <a:pathLst>
                <a:path h="491672" w="921610">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name="TextBox 7" id="7"/>
            <p:cNvSpPr txBox="true"/>
            <p:nvPr/>
          </p:nvSpPr>
          <p:spPr>
            <a:xfrm>
              <a:off x="0" y="-47625"/>
              <a:ext cx="921610" cy="539297"/>
            </a:xfrm>
            <a:prstGeom prst="rect">
              <a:avLst/>
            </a:prstGeom>
          </p:spPr>
          <p:txBody>
            <a:bodyPr anchor="ctr" rtlCol="false" tIns="50800" lIns="50800" bIns="50800" rIns="50800"/>
            <a:lstStyle/>
            <a:p>
              <a:pPr algn="ctr">
                <a:lnSpc>
                  <a:spcPts val="3032"/>
                </a:lnSpc>
              </a:pPr>
            </a:p>
          </p:txBody>
        </p:sp>
      </p:grpSp>
      <p:sp>
        <p:nvSpPr>
          <p:cNvPr name="TextBox 8" id="8"/>
          <p:cNvSpPr txBox="true"/>
          <p:nvPr/>
        </p:nvSpPr>
        <p:spPr>
          <a:xfrm rot="0">
            <a:off x="1917150" y="1644690"/>
            <a:ext cx="3018068" cy="12344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Thống kê mô tả vs. Thống kê suy luận</a:t>
            </a:r>
          </a:p>
        </p:txBody>
      </p:sp>
      <p:sp>
        <p:nvSpPr>
          <p:cNvPr name="TextBox 9" id="9"/>
          <p:cNvSpPr txBox="true"/>
          <p:nvPr/>
        </p:nvSpPr>
        <p:spPr>
          <a:xfrm rot="0">
            <a:off x="2163020" y="3632158"/>
            <a:ext cx="3018068" cy="4578350"/>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2D2261"/>
                </a:solidFill>
                <a:latin typeface="Roboto Slab"/>
                <a:ea typeface="Roboto Slab"/>
                <a:cs typeface="Roboto Slab"/>
                <a:sym typeface="Roboto Slab"/>
              </a:rPr>
              <a:t>Thống kê mô tả: Tóm tắt, mô tả dữ liệu hiện có; không cần yếu tố xác suất; là bước đầu tiên trong EDA715.</a:t>
            </a:r>
          </a:p>
          <a:p>
            <a:pPr algn="l" marL="431801" indent="-215900" lvl="1">
              <a:lnSpc>
                <a:spcPts val="2800"/>
              </a:lnSpc>
              <a:buFont typeface="Arial"/>
              <a:buChar char="•"/>
            </a:pPr>
            <a:r>
              <a:rPr lang="en-US" sz="2000">
                <a:solidFill>
                  <a:srgbClr val="2D2261"/>
                </a:solidFill>
                <a:latin typeface="Roboto Slab"/>
                <a:ea typeface="Roboto Slab"/>
                <a:cs typeface="Roboto Slab"/>
                <a:sym typeface="Roboto Slab"/>
              </a:rPr>
              <a:t>Thống kê suy luận: Suy rộng kết luận từ mẫu ra tổng thể; bắt buộc có kiểm định giả thuyết và xác suất ($p$-value)715</a:t>
            </a:r>
          </a:p>
          <a:p>
            <a:pPr algn="l">
              <a:lnSpc>
                <a:spcPts val="2800"/>
              </a:lnSpc>
            </a:pPr>
          </a:p>
        </p:txBody>
      </p:sp>
      <p:grpSp>
        <p:nvGrpSpPr>
          <p:cNvPr name="Group 10" id="10"/>
          <p:cNvGrpSpPr/>
          <p:nvPr/>
        </p:nvGrpSpPr>
        <p:grpSpPr>
          <a:xfrm rot="0">
            <a:off x="5792468" y="2280960"/>
            <a:ext cx="3499238" cy="7359369"/>
            <a:chOff x="0" y="0"/>
            <a:chExt cx="921610" cy="1938270"/>
          </a:xfrm>
        </p:grpSpPr>
        <p:sp>
          <p:nvSpPr>
            <p:cNvPr name="Freeform 11" id="11"/>
            <p:cNvSpPr/>
            <p:nvPr/>
          </p:nvSpPr>
          <p:spPr>
            <a:xfrm flipH="false" flipV="false" rot="0">
              <a:off x="0" y="0"/>
              <a:ext cx="921610" cy="1938270"/>
            </a:xfrm>
            <a:custGeom>
              <a:avLst/>
              <a:gdLst/>
              <a:ahLst/>
              <a:cxnLst/>
              <a:rect r="r" b="b" t="t" l="l"/>
              <a:pathLst>
                <a:path h="1938270" w="921610">
                  <a:moveTo>
                    <a:pt x="66374" y="0"/>
                  </a:moveTo>
                  <a:lnTo>
                    <a:pt x="855236" y="0"/>
                  </a:lnTo>
                  <a:cubicBezTo>
                    <a:pt x="891893" y="0"/>
                    <a:pt x="921610" y="29717"/>
                    <a:pt x="921610" y="66374"/>
                  </a:cubicBezTo>
                  <a:lnTo>
                    <a:pt x="921610" y="1871896"/>
                  </a:lnTo>
                  <a:cubicBezTo>
                    <a:pt x="921610" y="1908553"/>
                    <a:pt x="891893" y="1938270"/>
                    <a:pt x="855236" y="1938270"/>
                  </a:cubicBezTo>
                  <a:lnTo>
                    <a:pt x="66374" y="1938270"/>
                  </a:lnTo>
                  <a:cubicBezTo>
                    <a:pt x="29717" y="1938270"/>
                    <a:pt x="0" y="1908553"/>
                    <a:pt x="0" y="1871896"/>
                  </a:cubicBezTo>
                  <a:lnTo>
                    <a:pt x="0" y="66374"/>
                  </a:lnTo>
                  <a:cubicBezTo>
                    <a:pt x="0" y="29717"/>
                    <a:pt x="29717" y="0"/>
                    <a:pt x="66374" y="0"/>
                  </a:cubicBezTo>
                  <a:close/>
                </a:path>
              </a:pathLst>
            </a:custGeom>
            <a:solidFill>
              <a:srgbClr val="ECE1D7"/>
            </a:solidFill>
          </p:spPr>
        </p:sp>
        <p:sp>
          <p:nvSpPr>
            <p:cNvPr name="TextBox 12" id="12"/>
            <p:cNvSpPr txBox="true"/>
            <p:nvPr/>
          </p:nvSpPr>
          <p:spPr>
            <a:xfrm>
              <a:off x="0" y="-47625"/>
              <a:ext cx="921610" cy="1985895"/>
            </a:xfrm>
            <a:prstGeom prst="rect">
              <a:avLst/>
            </a:prstGeom>
          </p:spPr>
          <p:txBody>
            <a:bodyPr anchor="ctr" rtlCol="false" tIns="50800" lIns="50800" bIns="50800" rIns="50800"/>
            <a:lstStyle/>
            <a:p>
              <a:pPr algn="ctr">
                <a:lnSpc>
                  <a:spcPts val="2800"/>
                </a:lnSpc>
              </a:pPr>
            </a:p>
          </p:txBody>
        </p:sp>
      </p:grpSp>
      <p:grpSp>
        <p:nvGrpSpPr>
          <p:cNvPr name="Group 13" id="13"/>
          <p:cNvGrpSpPr/>
          <p:nvPr/>
        </p:nvGrpSpPr>
        <p:grpSpPr>
          <a:xfrm rot="0">
            <a:off x="5792468" y="1347552"/>
            <a:ext cx="3499238" cy="1866815"/>
            <a:chOff x="0" y="0"/>
            <a:chExt cx="921610" cy="491672"/>
          </a:xfrm>
        </p:grpSpPr>
        <p:sp>
          <p:nvSpPr>
            <p:cNvPr name="Freeform 14" id="14"/>
            <p:cNvSpPr/>
            <p:nvPr/>
          </p:nvSpPr>
          <p:spPr>
            <a:xfrm flipH="false" flipV="false" rot="0">
              <a:off x="0" y="0"/>
              <a:ext cx="921610" cy="491672"/>
            </a:xfrm>
            <a:custGeom>
              <a:avLst/>
              <a:gdLst/>
              <a:ahLst/>
              <a:cxnLst/>
              <a:rect r="r" b="b" t="t" l="l"/>
              <a:pathLst>
                <a:path h="491672" w="921610">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name="TextBox 15" id="15"/>
            <p:cNvSpPr txBox="true"/>
            <p:nvPr/>
          </p:nvSpPr>
          <p:spPr>
            <a:xfrm>
              <a:off x="0" y="-47625"/>
              <a:ext cx="921610" cy="539297"/>
            </a:xfrm>
            <a:prstGeom prst="rect">
              <a:avLst/>
            </a:prstGeom>
          </p:spPr>
          <p:txBody>
            <a:bodyPr anchor="ctr" rtlCol="false" tIns="50800" lIns="50800" bIns="50800" rIns="50800"/>
            <a:lstStyle/>
            <a:p>
              <a:pPr algn="ctr">
                <a:lnSpc>
                  <a:spcPts val="3032"/>
                </a:lnSpc>
              </a:pPr>
            </a:p>
          </p:txBody>
        </p:sp>
      </p:grpSp>
      <p:sp>
        <p:nvSpPr>
          <p:cNvPr name="TextBox 16" id="16"/>
          <p:cNvSpPr txBox="true"/>
          <p:nvPr/>
        </p:nvSpPr>
        <p:spPr>
          <a:xfrm rot="0">
            <a:off x="6174923" y="1644690"/>
            <a:ext cx="2734329" cy="1653540"/>
          </a:xfrm>
          <a:prstGeom prst="rect">
            <a:avLst/>
          </a:prstGeom>
        </p:spPr>
        <p:txBody>
          <a:bodyPr anchor="t" rtlCol="false" tIns="0" lIns="0" bIns="0" rIns="0">
            <a:spAutoFit/>
          </a:bodyPr>
          <a:lstStyle/>
          <a:p>
            <a:pPr algn="ctr">
              <a:lnSpc>
                <a:spcPts val="3359"/>
              </a:lnSpc>
            </a:pPr>
            <a:r>
              <a:rPr lang="en-US" sz="2400" b="true">
                <a:solidFill>
                  <a:srgbClr val="FBFCFE"/>
                </a:solidFill>
                <a:latin typeface="Red Hat Display Bold"/>
                <a:ea typeface="Red Hat Display Bold"/>
                <a:cs typeface="Red Hat Display Bold"/>
                <a:sym typeface="Red Hat Display Bold"/>
              </a:rPr>
              <a:t>Các thước đo xu hướng trung tâm &amp; Độ phân tán</a:t>
            </a:r>
          </a:p>
          <a:p>
            <a:pPr algn="ctr">
              <a:lnSpc>
                <a:spcPts val="3359"/>
              </a:lnSpc>
            </a:pPr>
          </a:p>
        </p:txBody>
      </p:sp>
      <p:sp>
        <p:nvSpPr>
          <p:cNvPr name="TextBox 17" id="17"/>
          <p:cNvSpPr txBox="true"/>
          <p:nvPr/>
        </p:nvSpPr>
        <p:spPr>
          <a:xfrm rot="0">
            <a:off x="5948241" y="3622542"/>
            <a:ext cx="3342786" cy="5635625"/>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2D2261"/>
                </a:solidFill>
                <a:latin typeface="Roboto Slab"/>
                <a:ea typeface="Roboto Slab"/>
                <a:cs typeface="Roboto Slab"/>
                <a:sym typeface="Roboto Slab"/>
              </a:rPr>
              <a:t>Trung bình (Mean) vs Trung vị (Median): Khi dữ liệu bị lệch mạnh hoặc có ngoại lai, Median là thước đo đáng tin cậy hơn vì không bị kéo lệch như Mean716.</a:t>
            </a:r>
          </a:p>
          <a:p>
            <a:pPr algn="l" marL="431801" indent="-215900" lvl="1">
              <a:lnSpc>
                <a:spcPts val="2800"/>
              </a:lnSpc>
              <a:buFont typeface="Arial"/>
              <a:buChar char="•"/>
            </a:pPr>
            <a:r>
              <a:rPr lang="en-US" sz="2000">
                <a:solidFill>
                  <a:srgbClr val="2D2261"/>
                </a:solidFill>
                <a:latin typeface="Roboto Slab"/>
                <a:ea typeface="Roboto Slab"/>
                <a:cs typeface="Roboto Slab"/>
                <a:sym typeface="Roboto Slab"/>
              </a:rPr>
              <a:t>Độ phân tán: Độ lệch chuẩn (Std), Phạm vi (Range), Bách phân vị/Khoảng tứ phân vị (IQR = $Q_3 - Q_1$) và Hệ số biến thiên ($CV = \frac{s}{\bar{x}} \times 100\%$)717.</a:t>
            </a:r>
          </a:p>
        </p:txBody>
      </p:sp>
      <p:grpSp>
        <p:nvGrpSpPr>
          <p:cNvPr name="Group 18" id="18"/>
          <p:cNvGrpSpPr/>
          <p:nvPr/>
        </p:nvGrpSpPr>
        <p:grpSpPr>
          <a:xfrm rot="0">
            <a:off x="9662502" y="2280960"/>
            <a:ext cx="3499238" cy="4850292"/>
            <a:chOff x="0" y="0"/>
            <a:chExt cx="921610" cy="1277443"/>
          </a:xfrm>
        </p:grpSpPr>
        <p:sp>
          <p:nvSpPr>
            <p:cNvPr name="Freeform 19" id="19"/>
            <p:cNvSpPr/>
            <p:nvPr/>
          </p:nvSpPr>
          <p:spPr>
            <a:xfrm flipH="false" flipV="false" rot="0">
              <a:off x="0" y="0"/>
              <a:ext cx="921610" cy="1277443"/>
            </a:xfrm>
            <a:custGeom>
              <a:avLst/>
              <a:gdLst/>
              <a:ahLst/>
              <a:cxnLst/>
              <a:rect r="r" b="b" t="t" l="l"/>
              <a:pathLst>
                <a:path h="1277443" w="921610">
                  <a:moveTo>
                    <a:pt x="66374" y="0"/>
                  </a:moveTo>
                  <a:lnTo>
                    <a:pt x="855236" y="0"/>
                  </a:lnTo>
                  <a:cubicBezTo>
                    <a:pt x="891893" y="0"/>
                    <a:pt x="921610" y="29717"/>
                    <a:pt x="921610" y="66374"/>
                  </a:cubicBezTo>
                  <a:lnTo>
                    <a:pt x="921610" y="1211069"/>
                  </a:lnTo>
                  <a:cubicBezTo>
                    <a:pt x="921610" y="1247727"/>
                    <a:pt x="891893" y="1277443"/>
                    <a:pt x="855236" y="1277443"/>
                  </a:cubicBezTo>
                  <a:lnTo>
                    <a:pt x="66374" y="1277443"/>
                  </a:lnTo>
                  <a:cubicBezTo>
                    <a:pt x="29717" y="1277443"/>
                    <a:pt x="0" y="1247727"/>
                    <a:pt x="0" y="1211069"/>
                  </a:cubicBezTo>
                  <a:lnTo>
                    <a:pt x="0" y="66374"/>
                  </a:lnTo>
                  <a:cubicBezTo>
                    <a:pt x="0" y="29717"/>
                    <a:pt x="29717" y="0"/>
                    <a:pt x="66374" y="0"/>
                  </a:cubicBezTo>
                  <a:close/>
                </a:path>
              </a:pathLst>
            </a:custGeom>
            <a:solidFill>
              <a:srgbClr val="ECE1D7"/>
            </a:solidFill>
          </p:spPr>
        </p:sp>
        <p:sp>
          <p:nvSpPr>
            <p:cNvPr name="TextBox 20" id="20"/>
            <p:cNvSpPr txBox="true"/>
            <p:nvPr/>
          </p:nvSpPr>
          <p:spPr>
            <a:xfrm>
              <a:off x="0" y="-47625"/>
              <a:ext cx="921610" cy="1325068"/>
            </a:xfrm>
            <a:prstGeom prst="rect">
              <a:avLst/>
            </a:prstGeom>
          </p:spPr>
          <p:txBody>
            <a:bodyPr anchor="ctr" rtlCol="false" tIns="50800" lIns="50800" bIns="50800" rIns="50800"/>
            <a:lstStyle/>
            <a:p>
              <a:pPr algn="ctr">
                <a:lnSpc>
                  <a:spcPts val="2800"/>
                </a:lnSpc>
              </a:pPr>
            </a:p>
          </p:txBody>
        </p:sp>
      </p:grpSp>
      <p:grpSp>
        <p:nvGrpSpPr>
          <p:cNvPr name="Group 21" id="21"/>
          <p:cNvGrpSpPr/>
          <p:nvPr/>
        </p:nvGrpSpPr>
        <p:grpSpPr>
          <a:xfrm rot="0">
            <a:off x="9662502" y="1347552"/>
            <a:ext cx="3499238" cy="1866815"/>
            <a:chOff x="0" y="0"/>
            <a:chExt cx="921610" cy="491672"/>
          </a:xfrm>
        </p:grpSpPr>
        <p:sp>
          <p:nvSpPr>
            <p:cNvPr name="Freeform 22" id="22"/>
            <p:cNvSpPr/>
            <p:nvPr/>
          </p:nvSpPr>
          <p:spPr>
            <a:xfrm flipH="false" flipV="false" rot="0">
              <a:off x="0" y="0"/>
              <a:ext cx="921610" cy="491672"/>
            </a:xfrm>
            <a:custGeom>
              <a:avLst/>
              <a:gdLst/>
              <a:ahLst/>
              <a:cxnLst/>
              <a:rect r="r" b="b" t="t" l="l"/>
              <a:pathLst>
                <a:path h="491672" w="921610">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name="TextBox 23" id="23"/>
            <p:cNvSpPr txBox="true"/>
            <p:nvPr/>
          </p:nvSpPr>
          <p:spPr>
            <a:xfrm>
              <a:off x="0" y="-47625"/>
              <a:ext cx="921610" cy="539297"/>
            </a:xfrm>
            <a:prstGeom prst="rect">
              <a:avLst/>
            </a:prstGeom>
          </p:spPr>
          <p:txBody>
            <a:bodyPr anchor="ctr" rtlCol="false" tIns="50800" lIns="50800" bIns="50800" rIns="50800"/>
            <a:lstStyle/>
            <a:p>
              <a:pPr algn="ctr">
                <a:lnSpc>
                  <a:spcPts val="3032"/>
                </a:lnSpc>
              </a:pPr>
            </a:p>
          </p:txBody>
        </p:sp>
      </p:grpSp>
      <p:sp>
        <p:nvSpPr>
          <p:cNvPr name="TextBox 24" id="24"/>
          <p:cNvSpPr txBox="true"/>
          <p:nvPr/>
        </p:nvSpPr>
        <p:spPr>
          <a:xfrm rot="0">
            <a:off x="10148956" y="1854240"/>
            <a:ext cx="2734329" cy="8153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Xác định dạng phân phối</a:t>
            </a:r>
          </a:p>
        </p:txBody>
      </p:sp>
      <p:sp>
        <p:nvSpPr>
          <p:cNvPr name="TextBox 25" id="25"/>
          <p:cNvSpPr txBox="true"/>
          <p:nvPr/>
        </p:nvSpPr>
        <p:spPr>
          <a:xfrm rot="0">
            <a:off x="10073434" y="3793111"/>
            <a:ext cx="2885373" cy="2921366"/>
          </a:xfrm>
          <a:prstGeom prst="rect">
            <a:avLst/>
          </a:prstGeom>
        </p:spPr>
        <p:txBody>
          <a:bodyPr anchor="t" rtlCol="false" tIns="0" lIns="0" bIns="0" rIns="0">
            <a:spAutoFit/>
          </a:bodyPr>
          <a:lstStyle/>
          <a:p>
            <a:pPr algn="l">
              <a:lnSpc>
                <a:spcPts val="3304"/>
              </a:lnSpc>
            </a:pPr>
            <a:r>
              <a:rPr lang="en-US" sz="2360">
                <a:solidFill>
                  <a:srgbClr val="2D2261"/>
                </a:solidFill>
                <a:latin typeface="Roboto Slab"/>
                <a:ea typeface="Roboto Slab"/>
                <a:cs typeface="Roboto Slab"/>
                <a:sym typeface="Roboto Slab"/>
              </a:rPr>
              <a:t>Kết hợp Histogram + KDE, Boxplot và chỉ số Skewness/Kurtosis (nếu $|Skew| &lt; 0.5$: gần đối xứng; $&gt; 1.0$: lệch mạnh)1618</a:t>
            </a:r>
          </a:p>
        </p:txBody>
      </p:sp>
      <p:grpSp>
        <p:nvGrpSpPr>
          <p:cNvPr name="Group 26" id="26"/>
          <p:cNvGrpSpPr/>
          <p:nvPr/>
        </p:nvGrpSpPr>
        <p:grpSpPr>
          <a:xfrm rot="0">
            <a:off x="13532536" y="2280960"/>
            <a:ext cx="3499238" cy="5385651"/>
            <a:chOff x="0" y="0"/>
            <a:chExt cx="921610" cy="1418443"/>
          </a:xfrm>
        </p:grpSpPr>
        <p:sp>
          <p:nvSpPr>
            <p:cNvPr name="Freeform 27" id="27"/>
            <p:cNvSpPr/>
            <p:nvPr/>
          </p:nvSpPr>
          <p:spPr>
            <a:xfrm flipH="false" flipV="false" rot="0">
              <a:off x="0" y="0"/>
              <a:ext cx="921610" cy="1418443"/>
            </a:xfrm>
            <a:custGeom>
              <a:avLst/>
              <a:gdLst/>
              <a:ahLst/>
              <a:cxnLst/>
              <a:rect r="r" b="b" t="t" l="l"/>
              <a:pathLst>
                <a:path h="1418443" w="921610">
                  <a:moveTo>
                    <a:pt x="66374" y="0"/>
                  </a:moveTo>
                  <a:lnTo>
                    <a:pt x="855236" y="0"/>
                  </a:lnTo>
                  <a:cubicBezTo>
                    <a:pt x="891893" y="0"/>
                    <a:pt x="921610" y="29717"/>
                    <a:pt x="921610" y="66374"/>
                  </a:cubicBezTo>
                  <a:lnTo>
                    <a:pt x="921610" y="1352069"/>
                  </a:lnTo>
                  <a:cubicBezTo>
                    <a:pt x="921610" y="1388727"/>
                    <a:pt x="891893" y="1418443"/>
                    <a:pt x="855236" y="1418443"/>
                  </a:cubicBezTo>
                  <a:lnTo>
                    <a:pt x="66374" y="1418443"/>
                  </a:lnTo>
                  <a:cubicBezTo>
                    <a:pt x="29717" y="1418443"/>
                    <a:pt x="0" y="1388727"/>
                    <a:pt x="0" y="1352069"/>
                  </a:cubicBezTo>
                  <a:lnTo>
                    <a:pt x="0" y="66374"/>
                  </a:lnTo>
                  <a:cubicBezTo>
                    <a:pt x="0" y="29717"/>
                    <a:pt x="29717" y="0"/>
                    <a:pt x="66374" y="0"/>
                  </a:cubicBezTo>
                  <a:close/>
                </a:path>
              </a:pathLst>
            </a:custGeom>
            <a:solidFill>
              <a:srgbClr val="ECE1D7"/>
            </a:solidFill>
          </p:spPr>
        </p:sp>
        <p:sp>
          <p:nvSpPr>
            <p:cNvPr name="TextBox 28" id="28"/>
            <p:cNvSpPr txBox="true"/>
            <p:nvPr/>
          </p:nvSpPr>
          <p:spPr>
            <a:xfrm>
              <a:off x="0" y="-47625"/>
              <a:ext cx="921610" cy="1466068"/>
            </a:xfrm>
            <a:prstGeom prst="rect">
              <a:avLst/>
            </a:prstGeom>
          </p:spPr>
          <p:txBody>
            <a:bodyPr anchor="ctr" rtlCol="false" tIns="50800" lIns="50800" bIns="50800" rIns="50800"/>
            <a:lstStyle/>
            <a:p>
              <a:pPr algn="ctr">
                <a:lnSpc>
                  <a:spcPts val="2800"/>
                </a:lnSpc>
              </a:pPr>
            </a:p>
          </p:txBody>
        </p:sp>
      </p:grpSp>
      <p:grpSp>
        <p:nvGrpSpPr>
          <p:cNvPr name="Group 29" id="29"/>
          <p:cNvGrpSpPr/>
          <p:nvPr/>
        </p:nvGrpSpPr>
        <p:grpSpPr>
          <a:xfrm rot="0">
            <a:off x="13532536" y="1347552"/>
            <a:ext cx="3499238" cy="1866815"/>
            <a:chOff x="0" y="0"/>
            <a:chExt cx="921610" cy="491672"/>
          </a:xfrm>
        </p:grpSpPr>
        <p:sp>
          <p:nvSpPr>
            <p:cNvPr name="Freeform 30" id="30"/>
            <p:cNvSpPr/>
            <p:nvPr/>
          </p:nvSpPr>
          <p:spPr>
            <a:xfrm flipH="false" flipV="false" rot="0">
              <a:off x="0" y="0"/>
              <a:ext cx="921610" cy="491672"/>
            </a:xfrm>
            <a:custGeom>
              <a:avLst/>
              <a:gdLst/>
              <a:ahLst/>
              <a:cxnLst/>
              <a:rect r="r" b="b" t="t" l="l"/>
              <a:pathLst>
                <a:path h="491672" w="921610">
                  <a:moveTo>
                    <a:pt x="66374" y="0"/>
                  </a:moveTo>
                  <a:lnTo>
                    <a:pt x="855236" y="0"/>
                  </a:lnTo>
                  <a:cubicBezTo>
                    <a:pt x="891893" y="0"/>
                    <a:pt x="921610" y="29717"/>
                    <a:pt x="921610" y="66374"/>
                  </a:cubicBezTo>
                  <a:lnTo>
                    <a:pt x="921610" y="425298"/>
                  </a:lnTo>
                  <a:cubicBezTo>
                    <a:pt x="921610" y="461955"/>
                    <a:pt x="891893" y="491672"/>
                    <a:pt x="855236" y="491672"/>
                  </a:cubicBezTo>
                  <a:lnTo>
                    <a:pt x="66374" y="491672"/>
                  </a:lnTo>
                  <a:cubicBezTo>
                    <a:pt x="29717" y="491672"/>
                    <a:pt x="0" y="461955"/>
                    <a:pt x="0" y="425298"/>
                  </a:cubicBezTo>
                  <a:lnTo>
                    <a:pt x="0" y="66374"/>
                  </a:lnTo>
                  <a:cubicBezTo>
                    <a:pt x="0" y="29717"/>
                    <a:pt x="29717" y="0"/>
                    <a:pt x="66374" y="0"/>
                  </a:cubicBezTo>
                  <a:close/>
                </a:path>
              </a:pathLst>
            </a:custGeom>
            <a:solidFill>
              <a:srgbClr val="5B7ABE"/>
            </a:solidFill>
          </p:spPr>
        </p:sp>
        <p:sp>
          <p:nvSpPr>
            <p:cNvPr name="TextBox 31" id="31"/>
            <p:cNvSpPr txBox="true"/>
            <p:nvPr/>
          </p:nvSpPr>
          <p:spPr>
            <a:xfrm>
              <a:off x="0" y="-47625"/>
              <a:ext cx="921610" cy="539297"/>
            </a:xfrm>
            <a:prstGeom prst="rect">
              <a:avLst/>
            </a:prstGeom>
          </p:spPr>
          <p:txBody>
            <a:bodyPr anchor="ctr" rtlCol="false" tIns="50800" lIns="50800" bIns="50800" rIns="50800"/>
            <a:lstStyle/>
            <a:p>
              <a:pPr algn="ctr">
                <a:lnSpc>
                  <a:spcPts val="3032"/>
                </a:lnSpc>
              </a:pPr>
            </a:p>
          </p:txBody>
        </p:sp>
      </p:grpSp>
      <p:sp>
        <p:nvSpPr>
          <p:cNvPr name="TextBox 32" id="32"/>
          <p:cNvSpPr txBox="true"/>
          <p:nvPr/>
        </p:nvSpPr>
        <p:spPr>
          <a:xfrm rot="0">
            <a:off x="13489785" y="1848350"/>
            <a:ext cx="3187716" cy="12344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Quy tắc phát hiện &amp; Xử lý ngoại lai (Outliers)</a:t>
            </a:r>
          </a:p>
        </p:txBody>
      </p:sp>
      <p:sp>
        <p:nvSpPr>
          <p:cNvPr name="TextBox 33" id="33"/>
          <p:cNvSpPr txBox="true"/>
          <p:nvPr/>
        </p:nvSpPr>
        <p:spPr>
          <a:xfrm rot="0">
            <a:off x="13533215" y="3793111"/>
            <a:ext cx="3498559" cy="3873500"/>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2D2261"/>
                </a:solidFill>
                <a:latin typeface="Roboto Slab"/>
                <a:ea typeface="Roboto Slab"/>
                <a:cs typeface="Roboto Slab"/>
                <a:sym typeface="Roboto Slab"/>
              </a:rPr>
              <a:t>Áp dụng quy tắc Tukey: Điểm ngoại lai nằm ngoài khoảng $[Q_1 - 1.5 \times IQR\,;\, Q_3 + 1.5 \times IQR]$1920.</a:t>
            </a:r>
          </a:p>
          <a:p>
            <a:pPr algn="l" marL="431801" indent="-215900" lvl="1">
              <a:lnSpc>
                <a:spcPts val="2800"/>
              </a:lnSpc>
              <a:buFont typeface="Arial"/>
              <a:buChar char="•"/>
            </a:pPr>
            <a:r>
              <a:rPr lang="en-US" sz="2000">
                <a:solidFill>
                  <a:srgbClr val="2D2261"/>
                </a:solidFill>
                <a:latin typeface="Roboto Slab"/>
                <a:ea typeface="Roboto Slab"/>
                <a:cs typeface="Roboto Slab"/>
                <a:sym typeface="Roboto Slab"/>
              </a:rPr>
              <a:t>Cần phân biệt lỗi nhập liệu (cần loại bỏ/điền lại) với giá trị thực nhưng hiếm (cần giữ lại để phân tích)1920</a:t>
            </a:r>
          </a:p>
          <a:p>
            <a:pPr algn="l">
              <a:lnSpc>
                <a:spcPts val="2800"/>
              </a:lnSpc>
            </a:pPr>
          </a:p>
        </p:txBody>
      </p:sp>
      <p:sp>
        <p:nvSpPr>
          <p:cNvPr name="Freeform 34" id="34"/>
          <p:cNvSpPr/>
          <p:nvPr/>
        </p:nvSpPr>
        <p:spPr>
          <a:xfrm flipH="false" flipV="false" rot="-2080684">
            <a:off x="11197384" y="8135225"/>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5" id="35"/>
          <p:cNvSpPr/>
          <p:nvPr/>
        </p:nvSpPr>
        <p:spPr>
          <a:xfrm flipH="false" flipV="false" rot="9426524">
            <a:off x="-4091484" y="-6438658"/>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36" id="36"/>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7" id="37"/>
          <p:cNvSpPr/>
          <p:nvPr/>
        </p:nvSpPr>
        <p:spPr>
          <a:xfrm flipH="false" flipV="false" rot="2830696">
            <a:off x="16870264" y="-1826145"/>
            <a:ext cx="2835471" cy="4114800"/>
          </a:xfrm>
          <a:custGeom>
            <a:avLst/>
            <a:gdLst/>
            <a:ahLst/>
            <a:cxnLst/>
            <a:rect r="r" b="b" t="t" l="l"/>
            <a:pathLst>
              <a:path h="4114800" w="2835471">
                <a:moveTo>
                  <a:pt x="0" y="0"/>
                </a:moveTo>
                <a:lnTo>
                  <a:pt x="2835472" y="0"/>
                </a:lnTo>
                <a:lnTo>
                  <a:pt x="283547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1831693" y="2953258"/>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406287" y="2924683"/>
            <a:ext cx="9295202" cy="4409059"/>
          </a:xfrm>
          <a:prstGeom prst="rect">
            <a:avLst/>
          </a:prstGeom>
        </p:spPr>
        <p:txBody>
          <a:bodyPr anchor="t" rtlCol="false" tIns="0" lIns="0" bIns="0" rIns="0">
            <a:spAutoFit/>
          </a:bodyPr>
          <a:lstStyle/>
          <a:p>
            <a:pPr algn="l">
              <a:lnSpc>
                <a:spcPts val="8707"/>
              </a:lnSpc>
            </a:pPr>
            <a:r>
              <a:rPr lang="en-US" sz="6999" b="true">
                <a:solidFill>
                  <a:srgbClr val="2D2261"/>
                </a:solidFill>
                <a:latin typeface="Red Hat Display Bold"/>
                <a:ea typeface="Red Hat Display Bold"/>
                <a:cs typeface="Red Hat Display Bold"/>
                <a:sym typeface="Red Hat Display Bold"/>
              </a:rPr>
              <a:t>CHƯƠNG 3 </a:t>
            </a:r>
          </a:p>
          <a:p>
            <a:pPr algn="l">
              <a:lnSpc>
                <a:spcPts val="8707"/>
              </a:lnSpc>
            </a:pPr>
            <a:r>
              <a:rPr lang="en-US" b="true" sz="6999">
                <a:solidFill>
                  <a:srgbClr val="2D2261"/>
                </a:solidFill>
                <a:latin typeface="Red Hat Display Bold"/>
                <a:ea typeface="Red Hat Display Bold"/>
                <a:cs typeface="Red Hat Display Bold"/>
                <a:sym typeface="Red Hat Display Bold"/>
              </a:rPr>
              <a:t>THỐNG KÊ MÔ TẢ TRÊN DỮ LIỆU THỰC TẾ</a:t>
            </a:r>
          </a:p>
        </p:txBody>
      </p:sp>
      <p:sp>
        <p:nvSpPr>
          <p:cNvPr name="Freeform 4" id="4"/>
          <p:cNvSpPr/>
          <p:nvPr/>
        </p:nvSpPr>
        <p:spPr>
          <a:xfrm flipH="false" flipV="false" rot="0">
            <a:off x="-1990789" y="-1264706"/>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635325">
            <a:off x="2106448" y="8003192"/>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26878">
            <a:off x="14442898" y="-623440"/>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830696">
            <a:off x="14397556" y="747629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2281895" y="1415416"/>
            <a:ext cx="12930386"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Tập dữ liệu 1: Red Wine Quality (Rượu đỏ)</a:t>
            </a:r>
          </a:p>
        </p:txBody>
      </p:sp>
      <p:grpSp>
        <p:nvGrpSpPr>
          <p:cNvPr name="Group 3" id="3"/>
          <p:cNvGrpSpPr/>
          <p:nvPr/>
        </p:nvGrpSpPr>
        <p:grpSpPr>
          <a:xfrm rot="0">
            <a:off x="1842033" y="3016101"/>
            <a:ext cx="4061528" cy="5955908"/>
            <a:chOff x="0" y="0"/>
            <a:chExt cx="1069703" cy="1568634"/>
          </a:xfrm>
        </p:grpSpPr>
        <p:sp>
          <p:nvSpPr>
            <p:cNvPr name="Freeform 4" id="4"/>
            <p:cNvSpPr/>
            <p:nvPr/>
          </p:nvSpPr>
          <p:spPr>
            <a:xfrm flipH="false" flipV="false" rot="0">
              <a:off x="0" y="0"/>
              <a:ext cx="1069703" cy="1568634"/>
            </a:xfrm>
            <a:custGeom>
              <a:avLst/>
              <a:gdLst/>
              <a:ahLst/>
              <a:cxnLst/>
              <a:rect r="r" b="b" t="t" l="l"/>
              <a:pathLst>
                <a:path h="1568634" w="1069703">
                  <a:moveTo>
                    <a:pt x="57185" y="0"/>
                  </a:moveTo>
                  <a:lnTo>
                    <a:pt x="1012518" y="0"/>
                  </a:lnTo>
                  <a:cubicBezTo>
                    <a:pt x="1027684" y="0"/>
                    <a:pt x="1042230" y="6025"/>
                    <a:pt x="1052954" y="16749"/>
                  </a:cubicBezTo>
                  <a:cubicBezTo>
                    <a:pt x="1063678" y="27473"/>
                    <a:pt x="1069703" y="42018"/>
                    <a:pt x="1069703" y="57185"/>
                  </a:cubicBezTo>
                  <a:lnTo>
                    <a:pt x="1069703" y="1511449"/>
                  </a:lnTo>
                  <a:cubicBezTo>
                    <a:pt x="1069703" y="1526616"/>
                    <a:pt x="1063678" y="1541161"/>
                    <a:pt x="1052954" y="1551885"/>
                  </a:cubicBezTo>
                  <a:cubicBezTo>
                    <a:pt x="1042230" y="1562609"/>
                    <a:pt x="1027684" y="1568634"/>
                    <a:pt x="1012518" y="1568634"/>
                  </a:cubicBezTo>
                  <a:lnTo>
                    <a:pt x="57185" y="1568634"/>
                  </a:lnTo>
                  <a:cubicBezTo>
                    <a:pt x="42018" y="1568634"/>
                    <a:pt x="27473" y="1562609"/>
                    <a:pt x="16749" y="1551885"/>
                  </a:cubicBezTo>
                  <a:cubicBezTo>
                    <a:pt x="6025" y="1541161"/>
                    <a:pt x="0" y="1526616"/>
                    <a:pt x="0" y="1511449"/>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5" id="5"/>
            <p:cNvSpPr txBox="true"/>
            <p:nvPr/>
          </p:nvSpPr>
          <p:spPr>
            <a:xfrm>
              <a:off x="0" y="-38100"/>
              <a:ext cx="1069703" cy="1606734"/>
            </a:xfrm>
            <a:prstGeom prst="rect">
              <a:avLst/>
            </a:prstGeom>
          </p:spPr>
          <p:txBody>
            <a:bodyPr anchor="ctr" rtlCol="false" tIns="50800" lIns="50800" bIns="50800" rIns="50800"/>
            <a:lstStyle/>
            <a:p>
              <a:pPr algn="l">
                <a:lnSpc>
                  <a:spcPts val="3499"/>
                </a:lnSpc>
              </a:pPr>
            </a:p>
          </p:txBody>
        </p:sp>
      </p:grpSp>
      <p:grpSp>
        <p:nvGrpSpPr>
          <p:cNvPr name="Group 6" id="6"/>
          <p:cNvGrpSpPr/>
          <p:nvPr/>
        </p:nvGrpSpPr>
        <p:grpSpPr>
          <a:xfrm rot="0">
            <a:off x="6215006" y="2417970"/>
            <a:ext cx="4061528" cy="6840330"/>
            <a:chOff x="0" y="0"/>
            <a:chExt cx="1069703" cy="1801568"/>
          </a:xfrm>
        </p:grpSpPr>
        <p:sp>
          <p:nvSpPr>
            <p:cNvPr name="Freeform 7" id="7"/>
            <p:cNvSpPr/>
            <p:nvPr/>
          </p:nvSpPr>
          <p:spPr>
            <a:xfrm flipH="false" flipV="false" rot="0">
              <a:off x="0" y="0"/>
              <a:ext cx="1069703" cy="1801568"/>
            </a:xfrm>
            <a:custGeom>
              <a:avLst/>
              <a:gdLst/>
              <a:ahLst/>
              <a:cxnLst/>
              <a:rect r="r" b="b" t="t" l="l"/>
              <a:pathLst>
                <a:path h="1801568" w="1069703">
                  <a:moveTo>
                    <a:pt x="57185" y="0"/>
                  </a:moveTo>
                  <a:lnTo>
                    <a:pt x="1012518" y="0"/>
                  </a:lnTo>
                  <a:cubicBezTo>
                    <a:pt x="1027684" y="0"/>
                    <a:pt x="1042230" y="6025"/>
                    <a:pt x="1052954" y="16749"/>
                  </a:cubicBezTo>
                  <a:cubicBezTo>
                    <a:pt x="1063678" y="27473"/>
                    <a:pt x="1069703" y="42018"/>
                    <a:pt x="1069703" y="57185"/>
                  </a:cubicBezTo>
                  <a:lnTo>
                    <a:pt x="1069703" y="1744384"/>
                  </a:lnTo>
                  <a:cubicBezTo>
                    <a:pt x="1069703" y="1759550"/>
                    <a:pt x="1063678" y="1774095"/>
                    <a:pt x="1052954" y="1784819"/>
                  </a:cubicBezTo>
                  <a:cubicBezTo>
                    <a:pt x="1042230" y="1795544"/>
                    <a:pt x="1027684" y="1801568"/>
                    <a:pt x="1012518" y="1801568"/>
                  </a:cubicBezTo>
                  <a:lnTo>
                    <a:pt x="57185" y="1801568"/>
                  </a:lnTo>
                  <a:cubicBezTo>
                    <a:pt x="42018" y="1801568"/>
                    <a:pt x="27473" y="1795544"/>
                    <a:pt x="16749" y="1784819"/>
                  </a:cubicBezTo>
                  <a:cubicBezTo>
                    <a:pt x="6025" y="1774095"/>
                    <a:pt x="0" y="1759550"/>
                    <a:pt x="0" y="1744384"/>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8" id="8"/>
            <p:cNvSpPr txBox="true"/>
            <p:nvPr/>
          </p:nvSpPr>
          <p:spPr>
            <a:xfrm>
              <a:off x="0" y="-38100"/>
              <a:ext cx="1069703" cy="1839668"/>
            </a:xfrm>
            <a:prstGeom prst="rect">
              <a:avLst/>
            </a:prstGeom>
          </p:spPr>
          <p:txBody>
            <a:bodyPr anchor="ctr" rtlCol="false" tIns="50800" lIns="50800" bIns="50800" rIns="50800"/>
            <a:lstStyle/>
            <a:p>
              <a:pPr algn="l">
                <a:lnSpc>
                  <a:spcPts val="3499"/>
                </a:lnSpc>
              </a:pPr>
            </a:p>
          </p:txBody>
        </p:sp>
      </p:grpSp>
      <p:sp>
        <p:nvSpPr>
          <p:cNvPr name="Freeform 9" id="9"/>
          <p:cNvSpPr/>
          <p:nvPr/>
        </p:nvSpPr>
        <p:spPr>
          <a:xfrm flipH="false" flipV="false" rot="-2080684">
            <a:off x="9732163" y="9565182"/>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9426524">
            <a:off x="-4010378" y="-5176567"/>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2624874">
            <a:off x="16371537" y="114848"/>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1031889" y="3011265"/>
            <a:ext cx="6719848" cy="2383446"/>
          </a:xfrm>
          <a:custGeom>
            <a:avLst/>
            <a:gdLst/>
            <a:ahLst/>
            <a:cxnLst/>
            <a:rect r="r" b="b" t="t" l="l"/>
            <a:pathLst>
              <a:path h="2383446" w="6719848">
                <a:moveTo>
                  <a:pt x="0" y="0"/>
                </a:moveTo>
                <a:lnTo>
                  <a:pt x="6719848" y="0"/>
                </a:lnTo>
                <a:lnTo>
                  <a:pt x="6719848" y="2383446"/>
                </a:lnTo>
                <a:lnTo>
                  <a:pt x="0" y="2383446"/>
                </a:lnTo>
                <a:lnTo>
                  <a:pt x="0" y="0"/>
                </a:lnTo>
                <a:close/>
              </a:path>
            </a:pathLst>
          </a:custGeom>
          <a:blipFill>
            <a:blip r:embed="rId8"/>
            <a:stretch>
              <a:fillRect l="0" t="0" r="0" b="0"/>
            </a:stretch>
          </a:blipFill>
        </p:spPr>
      </p:sp>
      <p:sp>
        <p:nvSpPr>
          <p:cNvPr name="Freeform 13" id="13"/>
          <p:cNvSpPr/>
          <p:nvPr/>
        </p:nvSpPr>
        <p:spPr>
          <a:xfrm flipH="false" flipV="false" rot="0">
            <a:off x="11031889" y="5822225"/>
            <a:ext cx="6719848" cy="2383446"/>
          </a:xfrm>
          <a:custGeom>
            <a:avLst/>
            <a:gdLst/>
            <a:ahLst/>
            <a:cxnLst/>
            <a:rect r="r" b="b" t="t" l="l"/>
            <a:pathLst>
              <a:path h="2383446" w="6719848">
                <a:moveTo>
                  <a:pt x="0" y="0"/>
                </a:moveTo>
                <a:lnTo>
                  <a:pt x="6719848" y="0"/>
                </a:lnTo>
                <a:lnTo>
                  <a:pt x="6719848" y="2383446"/>
                </a:lnTo>
                <a:lnTo>
                  <a:pt x="0" y="2383446"/>
                </a:lnTo>
                <a:lnTo>
                  <a:pt x="0" y="0"/>
                </a:lnTo>
                <a:close/>
              </a:path>
            </a:pathLst>
          </a:custGeom>
          <a:blipFill>
            <a:blip r:embed="rId8"/>
            <a:stretch>
              <a:fillRect l="0" t="0" r="0" b="0"/>
            </a:stretch>
          </a:blipFill>
        </p:spPr>
      </p:sp>
      <p:sp>
        <p:nvSpPr>
          <p:cNvPr name="TextBox 14" id="14"/>
          <p:cNvSpPr txBox="true"/>
          <p:nvPr/>
        </p:nvSpPr>
        <p:spPr>
          <a:xfrm rot="0">
            <a:off x="6615884" y="2853784"/>
            <a:ext cx="3357577" cy="6118225"/>
          </a:xfrm>
          <a:prstGeom prst="rect">
            <a:avLst/>
          </a:prstGeom>
        </p:spPr>
        <p:txBody>
          <a:bodyPr anchor="t" rtlCol="false" tIns="0" lIns="0" bIns="0" rIns="0">
            <a:spAutoFit/>
          </a:bodyPr>
          <a:lstStyle/>
          <a:p>
            <a:pPr algn="l">
              <a:lnSpc>
                <a:spcPts val="3499"/>
              </a:lnSpc>
            </a:pPr>
            <a:r>
              <a:rPr lang="en-US" sz="2499" b="true">
                <a:solidFill>
                  <a:srgbClr val="FBFCFE"/>
                </a:solidFill>
                <a:latin typeface="Red Hat Display Bold"/>
                <a:ea typeface="Red Hat Display Bold"/>
                <a:cs typeface="Red Hat Display Bold"/>
                <a:sym typeface="Red Hat Display Bold"/>
              </a:rPr>
              <a:t>Tương quan chính: Nồng độ cồn alcohol ($r = 0,48$) tương quan thuận mạnh nhất và volatile_acidity ($r = -0,40$) tương quan nghịch mạnh nhất với chất lượng rượu22more_horiz</a:t>
            </a:r>
          </a:p>
          <a:p>
            <a:pPr algn="l">
              <a:lnSpc>
                <a:spcPts val="3499"/>
              </a:lnSpc>
            </a:pPr>
            <a:r>
              <a:rPr lang="en-US" b="true" sz="2499">
                <a:solidFill>
                  <a:srgbClr val="FBFCFE"/>
                </a:solidFill>
                <a:latin typeface="Red Hat Display Bold"/>
                <a:ea typeface="Red Hat Display Bold"/>
                <a:cs typeface="Red Hat Display Bold"/>
                <a:sym typeface="Red Hat Display Bold"/>
              </a:rPr>
              <a:t>Làm sạch: Loại bỏ 240 dòng trùng lặp (15,01%), giữ lại 1.359 mẫu hợp lệ</a:t>
            </a:r>
          </a:p>
        </p:txBody>
      </p:sp>
      <p:sp>
        <p:nvSpPr>
          <p:cNvPr name="TextBox 15" id="15"/>
          <p:cNvSpPr txBox="true"/>
          <p:nvPr/>
        </p:nvSpPr>
        <p:spPr>
          <a:xfrm rot="0">
            <a:off x="2285944" y="3513330"/>
            <a:ext cx="3173706" cy="4803775"/>
          </a:xfrm>
          <a:prstGeom prst="rect">
            <a:avLst/>
          </a:prstGeom>
        </p:spPr>
        <p:txBody>
          <a:bodyPr anchor="t" rtlCol="false" tIns="0" lIns="0" bIns="0" rIns="0">
            <a:spAutoFit/>
          </a:bodyPr>
          <a:lstStyle/>
          <a:p>
            <a:pPr algn="just">
              <a:lnSpc>
                <a:spcPts val="3499"/>
              </a:lnSpc>
            </a:pPr>
            <a:r>
              <a:rPr lang="en-US" b="true" sz="2499">
                <a:solidFill>
                  <a:srgbClr val="FBFCFE"/>
                </a:solidFill>
                <a:latin typeface="Red Hat Display Bold"/>
                <a:ea typeface="Red Hat Display Bold"/>
                <a:cs typeface="Red Hat Display Bold"/>
                <a:sym typeface="Red Hat Display Bold"/>
              </a:rPr>
              <a:t>Đặc điểm phân phối: Biến mục tiêu quality tập trung chủ yếu ở mức 5–6 (1.112 mẫu), gây mất cân bằng lớp2224. Các biến residual_sugar ($Skew = 4.54$), chlorides ($Skew = 5.50$) bị lệch phải rất mạnh2125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8017939" y="7911833"/>
            <a:ext cx="9241361" cy="1298575"/>
          </a:xfrm>
          <a:prstGeom prst="rect">
            <a:avLst/>
          </a:prstGeom>
        </p:spPr>
        <p:txBody>
          <a:bodyPr anchor="t" rtlCol="false" tIns="0" lIns="0" bIns="0" rIns="0">
            <a:spAutoFit/>
          </a:bodyPr>
          <a:lstStyle/>
          <a:p>
            <a:pPr algn="l">
              <a:lnSpc>
                <a:spcPts val="3499"/>
              </a:lnSpc>
            </a:pPr>
            <a:r>
              <a:rPr lang="en-US" b="true" sz="2499">
                <a:solidFill>
                  <a:srgbClr val="5B7ABE"/>
                </a:solidFill>
                <a:latin typeface="Red Hat Display Bold"/>
                <a:ea typeface="Red Hat Display Bold"/>
                <a:cs typeface="Red Hat Display Bold"/>
                <a:sym typeface="Red Hat Display Bold"/>
              </a:rPr>
              <a:t>Chỉ số quan trọng nhất: Glucose ($r = 0,50$) có khả năng phân tách và dự báo nguy cơ mắc bệnh cao nhất22more_horiz</a:t>
            </a:r>
          </a:p>
        </p:txBody>
      </p:sp>
      <p:sp>
        <p:nvSpPr>
          <p:cNvPr name="TextBox 3" id="3"/>
          <p:cNvSpPr txBox="true"/>
          <p:nvPr/>
        </p:nvSpPr>
        <p:spPr>
          <a:xfrm rot="0">
            <a:off x="4129633" y="855350"/>
            <a:ext cx="10028734" cy="1798372"/>
          </a:xfrm>
          <a:prstGeom prst="rect">
            <a:avLst/>
          </a:prstGeom>
        </p:spPr>
        <p:txBody>
          <a:bodyPr anchor="t" rtlCol="false" tIns="0" lIns="0" bIns="0" rIns="0">
            <a:spAutoFit/>
          </a:bodyPr>
          <a:lstStyle/>
          <a:p>
            <a:pPr algn="l">
              <a:lnSpc>
                <a:spcPts val="7113"/>
              </a:lnSpc>
            </a:pPr>
            <a:r>
              <a:rPr lang="en-US" b="true" sz="5718">
                <a:solidFill>
                  <a:srgbClr val="2D2261"/>
                </a:solidFill>
                <a:latin typeface="Red Hat Display Bold"/>
                <a:ea typeface="Red Hat Display Bold"/>
                <a:cs typeface="Red Hat Display Bold"/>
                <a:sym typeface="Red Hat Display Bold"/>
              </a:rPr>
              <a:t>Tập dữ liệu 2: Pima Indians Diabetes (Bệnh tiểu đường)</a:t>
            </a:r>
          </a:p>
        </p:txBody>
      </p:sp>
      <p:sp>
        <p:nvSpPr>
          <p:cNvPr name="Freeform 4" id="4"/>
          <p:cNvSpPr/>
          <p:nvPr/>
        </p:nvSpPr>
        <p:spPr>
          <a:xfrm flipH="false" flipV="false" rot="1026841">
            <a:off x="13895638" y="-2821379"/>
            <a:ext cx="6727323" cy="4586811"/>
          </a:xfrm>
          <a:custGeom>
            <a:avLst/>
            <a:gdLst/>
            <a:ahLst/>
            <a:cxnLst/>
            <a:rect r="r" b="b" t="t" l="l"/>
            <a:pathLst>
              <a:path h="4586811" w="6727323">
                <a:moveTo>
                  <a:pt x="0" y="0"/>
                </a:moveTo>
                <a:lnTo>
                  <a:pt x="6727324" y="0"/>
                </a:lnTo>
                <a:lnTo>
                  <a:pt x="6727324" y="4586811"/>
                </a:lnTo>
                <a:lnTo>
                  <a:pt x="0" y="4586811"/>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635325">
            <a:off x="-1418970" y="9075715"/>
            <a:ext cx="7907020" cy="6699403"/>
          </a:xfrm>
          <a:custGeom>
            <a:avLst/>
            <a:gdLst/>
            <a:ahLst/>
            <a:cxnLst/>
            <a:rect r="r" b="b" t="t" l="l"/>
            <a:pathLst>
              <a:path h="6699403" w="7907020">
                <a:moveTo>
                  <a:pt x="0" y="0"/>
                </a:moveTo>
                <a:lnTo>
                  <a:pt x="7907021" y="0"/>
                </a:lnTo>
                <a:lnTo>
                  <a:pt x="7907021" y="6699403"/>
                </a:lnTo>
                <a:lnTo>
                  <a:pt x="0" y="6699403"/>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26878">
            <a:off x="-267547"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2830696">
            <a:off x="15633840" y="8232033"/>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461390" y="3781540"/>
            <a:ext cx="7206041" cy="2081973"/>
          </a:xfrm>
          <a:custGeom>
            <a:avLst/>
            <a:gdLst/>
            <a:ahLst/>
            <a:cxnLst/>
            <a:rect r="r" b="b" t="t" l="l"/>
            <a:pathLst>
              <a:path h="2081973" w="7206041">
                <a:moveTo>
                  <a:pt x="0" y="0"/>
                </a:moveTo>
                <a:lnTo>
                  <a:pt x="7206041" y="0"/>
                </a:lnTo>
                <a:lnTo>
                  <a:pt x="7206041" y="2081973"/>
                </a:lnTo>
                <a:lnTo>
                  <a:pt x="0" y="2081973"/>
                </a:lnTo>
                <a:lnTo>
                  <a:pt x="0" y="0"/>
                </a:lnTo>
                <a:close/>
              </a:path>
            </a:pathLst>
          </a:custGeom>
          <a:blipFill>
            <a:blip r:embed="rId10"/>
            <a:stretch>
              <a:fillRect l="-11772" t="0" r="-11772" b="0"/>
            </a:stretch>
          </a:blipFill>
        </p:spPr>
      </p:sp>
      <p:sp>
        <p:nvSpPr>
          <p:cNvPr name="Freeform 9" id="9"/>
          <p:cNvSpPr/>
          <p:nvPr/>
        </p:nvSpPr>
        <p:spPr>
          <a:xfrm flipH="false" flipV="false" rot="0">
            <a:off x="385190" y="6488988"/>
            <a:ext cx="7282241" cy="1917278"/>
          </a:xfrm>
          <a:custGeom>
            <a:avLst/>
            <a:gdLst/>
            <a:ahLst/>
            <a:cxnLst/>
            <a:rect r="r" b="b" t="t" l="l"/>
            <a:pathLst>
              <a:path h="1917278" w="7282241">
                <a:moveTo>
                  <a:pt x="0" y="0"/>
                </a:moveTo>
                <a:lnTo>
                  <a:pt x="7282241" y="0"/>
                </a:lnTo>
                <a:lnTo>
                  <a:pt x="7282241" y="1917277"/>
                </a:lnTo>
                <a:lnTo>
                  <a:pt x="0" y="1917277"/>
                </a:lnTo>
                <a:lnTo>
                  <a:pt x="0" y="0"/>
                </a:lnTo>
                <a:close/>
              </a:path>
            </a:pathLst>
          </a:custGeom>
          <a:blipFill>
            <a:blip r:embed="rId11"/>
            <a:stretch>
              <a:fillRect l="0" t="0" r="0" b="0"/>
            </a:stretch>
          </a:blipFill>
        </p:spPr>
      </p:sp>
      <p:sp>
        <p:nvSpPr>
          <p:cNvPr name="TextBox 10" id="10"/>
          <p:cNvSpPr txBox="true"/>
          <p:nvPr/>
        </p:nvSpPr>
        <p:spPr>
          <a:xfrm rot="0">
            <a:off x="8017939" y="3316325"/>
            <a:ext cx="9241361" cy="2174875"/>
          </a:xfrm>
          <a:prstGeom prst="rect">
            <a:avLst/>
          </a:prstGeom>
        </p:spPr>
        <p:txBody>
          <a:bodyPr anchor="t" rtlCol="false" tIns="0" lIns="0" bIns="0" rIns="0">
            <a:spAutoFit/>
          </a:bodyPr>
          <a:lstStyle/>
          <a:p>
            <a:pPr algn="l">
              <a:lnSpc>
                <a:spcPts val="3499"/>
              </a:lnSpc>
            </a:pPr>
            <a:r>
              <a:rPr lang="en-US" b="true" sz="2499">
                <a:solidFill>
                  <a:srgbClr val="5B7ABE"/>
                </a:solidFill>
                <a:latin typeface="Red Hat Display Bold"/>
                <a:ea typeface="Red Hat Display Bold"/>
                <a:cs typeface="Red Hat Display Bold"/>
                <a:sym typeface="Red Hat Display Bold"/>
              </a:rPr>
              <a:t>Phát hiện khuyết thiếu ẩn: Dữ liệu ghi nhận 34,9% bệnh nhân mắc bệnh (268/768). Báo cáo phát hiện các giá trị khuyết thiếu ẩn dưới dạng số 0 ở các chỉ số sinh học: Insulin (48,7%), SkinThickness (29,6%), BloodPressure (4,56%), BMI (1,43%), Glucose (0,65%)</a:t>
            </a:r>
          </a:p>
        </p:txBody>
      </p:sp>
      <p:sp>
        <p:nvSpPr>
          <p:cNvPr name="TextBox 11" id="11"/>
          <p:cNvSpPr txBox="true"/>
          <p:nvPr/>
        </p:nvSpPr>
        <p:spPr>
          <a:xfrm rot="0">
            <a:off x="8017939" y="5815888"/>
            <a:ext cx="9241361" cy="1736725"/>
          </a:xfrm>
          <a:prstGeom prst="rect">
            <a:avLst/>
          </a:prstGeom>
        </p:spPr>
        <p:txBody>
          <a:bodyPr anchor="t" rtlCol="false" tIns="0" lIns="0" bIns="0" rIns="0">
            <a:spAutoFit/>
          </a:bodyPr>
          <a:lstStyle/>
          <a:p>
            <a:pPr algn="l">
              <a:lnSpc>
                <a:spcPts val="3499"/>
              </a:lnSpc>
            </a:pPr>
            <a:r>
              <a:rPr lang="en-US" b="true" sz="2499">
                <a:solidFill>
                  <a:srgbClr val="5B7ABE"/>
                </a:solidFill>
                <a:latin typeface="Red Hat Display Bold"/>
                <a:ea typeface="Red Hat Display Bold"/>
                <a:cs typeface="Red Hat Display Bold"/>
                <a:sym typeface="Red Hat Display Bold"/>
              </a:rPr>
              <a:t>Kỹ thuật xử lý: Chuyển số 0 thành NaN và điền bằng Trung vị (Median) tính riêng theo từng nhóm Outcome (ví dụ: Glucose nhóm 0 điền 107.0, nhóm 1 điền 140.0) để giữ tính chất sinh học</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3087219" y="3009995"/>
            <a:ext cx="12113563" cy="4899025"/>
          </a:xfrm>
          <a:prstGeom prst="rect">
            <a:avLst/>
          </a:prstGeom>
        </p:spPr>
        <p:txBody>
          <a:bodyPr anchor="t" rtlCol="false" tIns="0" lIns="0" bIns="0" rIns="0">
            <a:spAutoFit/>
          </a:bodyPr>
          <a:lstStyle/>
          <a:p>
            <a:pPr algn="ctr">
              <a:lnSpc>
                <a:spcPts val="9799"/>
              </a:lnSpc>
            </a:pPr>
            <a:r>
              <a:rPr lang="en-US" sz="6999" b="true">
                <a:solidFill>
                  <a:srgbClr val="2D2261"/>
                </a:solidFill>
                <a:latin typeface="Red Hat Display Bold"/>
                <a:ea typeface="Red Hat Display Bold"/>
                <a:cs typeface="Red Hat Display Bold"/>
                <a:sym typeface="Red Hat Display Bold"/>
              </a:rPr>
              <a:t>CHƯƠNG 4. </a:t>
            </a:r>
          </a:p>
          <a:p>
            <a:pPr algn="ctr">
              <a:lnSpc>
                <a:spcPts val="9799"/>
              </a:lnSpc>
            </a:pPr>
            <a:r>
              <a:rPr lang="en-US" b="true" sz="6999">
                <a:solidFill>
                  <a:srgbClr val="2D2261"/>
                </a:solidFill>
                <a:latin typeface="Red Hat Display Bold"/>
                <a:ea typeface="Red Hat Display Bold"/>
                <a:cs typeface="Red Hat Display Bold"/>
                <a:sym typeface="Red Hat Display Bold"/>
              </a:rPr>
              <a:t>CƠ SỞ LÝ THUYẾT – TRỰC QUAN HÓA &amp; PHÂN TÍCH ĐƠN/HAI BIẾN</a:t>
            </a:r>
          </a:p>
        </p:txBody>
      </p:sp>
      <p:sp>
        <p:nvSpPr>
          <p:cNvPr name="Freeform 3" id="3"/>
          <p:cNvSpPr/>
          <p:nvPr/>
        </p:nvSpPr>
        <p:spPr>
          <a:xfrm flipH="false" flipV="false" rot="-2080684">
            <a:off x="8807952" y="7364503"/>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9426524">
            <a:off x="-2507437" y="-4000028"/>
            <a:ext cx="9442126" cy="8000056"/>
          </a:xfrm>
          <a:custGeom>
            <a:avLst/>
            <a:gdLst/>
            <a:ahLst/>
            <a:cxnLst/>
            <a:rect r="r" b="b" t="t" l="l"/>
            <a:pathLst>
              <a:path h="8000056" w="9442126">
                <a:moveTo>
                  <a:pt x="0" y="0"/>
                </a:moveTo>
                <a:lnTo>
                  <a:pt x="9442127" y="0"/>
                </a:lnTo>
                <a:lnTo>
                  <a:pt x="9442127"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624874">
            <a:off x="2167026" y="8344448"/>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830696">
            <a:off x="15482569" y="-702761"/>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2449638" y="3204288"/>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381810" y="1576504"/>
            <a:ext cx="13877490" cy="1736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5B7ABE"/>
                </a:solidFill>
                <a:latin typeface="Red Hat Display"/>
                <a:ea typeface="Red Hat Display"/>
                <a:cs typeface="Red Hat Display"/>
                <a:sym typeface="Red Hat Display"/>
              </a:rPr>
              <a:t>Giúp mắt người nhận diện mẫu, xu hướng, mùa vụ và ngoại lai nhanh hơn đọc bảng số.</a:t>
            </a:r>
          </a:p>
          <a:p>
            <a:pPr algn="l" marL="539749" indent="-269875" lvl="1">
              <a:lnSpc>
                <a:spcPts val="3499"/>
              </a:lnSpc>
              <a:buFont typeface="Arial"/>
              <a:buChar char="•"/>
            </a:pPr>
            <a:r>
              <a:rPr lang="en-US" sz="2499">
                <a:solidFill>
                  <a:srgbClr val="5B7ABE"/>
                </a:solidFill>
                <a:latin typeface="Red Hat Display"/>
                <a:ea typeface="Red Hat Display"/>
                <a:cs typeface="Red Hat Display"/>
                <a:sym typeface="Red Hat Display"/>
              </a:rPr>
              <a:t>Tối ưu Data-ink ratio: Bỏ chi tiết thừa,</a:t>
            </a:r>
            <a:r>
              <a:rPr lang="en-US" sz="2499">
                <a:solidFill>
                  <a:srgbClr val="5B7ABE"/>
                </a:solidFill>
                <a:latin typeface="Red Hat Display"/>
                <a:ea typeface="Red Hat Display"/>
                <a:cs typeface="Red Hat Display"/>
                <a:sym typeface="Red Hat Display"/>
              </a:rPr>
              <a:t> chọn palette màu hợp lý, gắn nhãn số liệu trực tiếp trên cột</a:t>
            </a:r>
          </a:p>
          <a:p>
            <a:pPr algn="l">
              <a:lnSpc>
                <a:spcPts val="3499"/>
              </a:lnSpc>
            </a:pPr>
          </a:p>
        </p:txBody>
      </p:sp>
      <p:sp>
        <p:nvSpPr>
          <p:cNvPr name="TextBox 4" id="4"/>
          <p:cNvSpPr txBox="true"/>
          <p:nvPr/>
        </p:nvSpPr>
        <p:spPr>
          <a:xfrm rot="0">
            <a:off x="2981804" y="1184278"/>
            <a:ext cx="7516956" cy="870179"/>
          </a:xfrm>
          <a:prstGeom prst="rect">
            <a:avLst/>
          </a:prstGeom>
        </p:spPr>
        <p:txBody>
          <a:bodyPr anchor="t" rtlCol="false" tIns="0" lIns="0" bIns="0" rIns="0">
            <a:spAutoFit/>
          </a:bodyPr>
          <a:lstStyle/>
          <a:p>
            <a:pPr algn="l">
              <a:lnSpc>
                <a:spcPts val="3483"/>
              </a:lnSpc>
            </a:pPr>
            <a:r>
              <a:rPr lang="en-US" sz="2799" b="true">
                <a:solidFill>
                  <a:srgbClr val="2D2261"/>
                </a:solidFill>
                <a:latin typeface="Red Hat Display Bold"/>
                <a:ea typeface="Red Hat Display Bold"/>
                <a:cs typeface="Red Hat Display Bold"/>
                <a:sym typeface="Red Hat Display Bold"/>
              </a:rPr>
              <a:t>Mục đích &amp; Nguyên tắc trực quan hóa:</a:t>
            </a:r>
          </a:p>
          <a:p>
            <a:pPr algn="l">
              <a:lnSpc>
                <a:spcPts val="3483"/>
              </a:lnSpc>
            </a:pPr>
          </a:p>
        </p:txBody>
      </p:sp>
      <p:sp>
        <p:nvSpPr>
          <p:cNvPr name="TextBox 5" id="5"/>
          <p:cNvSpPr txBox="true"/>
          <p:nvPr/>
        </p:nvSpPr>
        <p:spPr>
          <a:xfrm rot="0">
            <a:off x="3381810" y="3910709"/>
            <a:ext cx="13615054" cy="1736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5B7ABE"/>
                </a:solidFill>
                <a:latin typeface="Red Hat Display"/>
                <a:ea typeface="Red Hat Display"/>
                <a:cs typeface="Red Hat Display"/>
                <a:sym typeface="Red Hat Display"/>
              </a:rPr>
              <a:t>Biến số (Liên tục): Histogram, KDE, Boxplot, Violin plot (xem phân phối &amp; ngoại lai); Scatter plot, Heatmap (xem</a:t>
            </a:r>
            <a:r>
              <a:rPr lang="en-US" sz="2499">
                <a:solidFill>
                  <a:srgbClr val="5B7ABE"/>
                </a:solidFill>
                <a:latin typeface="Red Hat Display"/>
                <a:ea typeface="Red Hat Display"/>
                <a:cs typeface="Red Hat Display"/>
                <a:sym typeface="Red Hat Display"/>
              </a:rPr>
              <a:t> tương quan).</a:t>
            </a:r>
          </a:p>
          <a:p>
            <a:pPr algn="l" marL="539749" indent="-269875" lvl="1">
              <a:lnSpc>
                <a:spcPts val="3499"/>
              </a:lnSpc>
              <a:buFont typeface="Arial"/>
              <a:buChar char="•"/>
            </a:pPr>
            <a:r>
              <a:rPr lang="en-US" sz="2499">
                <a:solidFill>
                  <a:srgbClr val="5B7ABE"/>
                </a:solidFill>
                <a:latin typeface="Red Hat Display"/>
                <a:ea typeface="Red Hat Display"/>
                <a:cs typeface="Red Hat Display"/>
                <a:sym typeface="Red Hat Display"/>
              </a:rPr>
              <a:t>Biến phân loại: Bar chart, Countplot (so sánh tần số); Pie chart (so sánh tỷ lệ nhóm nhỏ)</a:t>
            </a:r>
          </a:p>
          <a:p>
            <a:pPr algn="l">
              <a:lnSpc>
                <a:spcPts val="3499"/>
              </a:lnSpc>
            </a:pPr>
          </a:p>
        </p:txBody>
      </p:sp>
      <p:sp>
        <p:nvSpPr>
          <p:cNvPr name="TextBox 6" id="6"/>
          <p:cNvSpPr txBox="true"/>
          <p:nvPr/>
        </p:nvSpPr>
        <p:spPr>
          <a:xfrm rot="0">
            <a:off x="3644246" y="3303704"/>
            <a:ext cx="7748151" cy="870179"/>
          </a:xfrm>
          <a:prstGeom prst="rect">
            <a:avLst/>
          </a:prstGeom>
        </p:spPr>
        <p:txBody>
          <a:bodyPr anchor="t" rtlCol="false" tIns="0" lIns="0" bIns="0" rIns="0">
            <a:spAutoFit/>
          </a:bodyPr>
          <a:lstStyle/>
          <a:p>
            <a:pPr algn="l">
              <a:lnSpc>
                <a:spcPts val="3483"/>
              </a:lnSpc>
            </a:pPr>
            <a:r>
              <a:rPr lang="en-US" sz="2799" b="true">
                <a:solidFill>
                  <a:srgbClr val="2D2261"/>
                </a:solidFill>
                <a:latin typeface="Red Hat Display Bold"/>
                <a:ea typeface="Red Hat Display Bold"/>
                <a:cs typeface="Red Hat Display Bold"/>
                <a:sym typeface="Red Hat Display Bold"/>
              </a:rPr>
              <a:t>Lựa chọn loại biểu đồ phù hợp:</a:t>
            </a:r>
          </a:p>
          <a:p>
            <a:pPr algn="l">
              <a:lnSpc>
                <a:spcPts val="3483"/>
              </a:lnSpc>
            </a:pPr>
          </a:p>
        </p:txBody>
      </p:sp>
      <p:sp>
        <p:nvSpPr>
          <p:cNvPr name="TextBox 7" id="7"/>
          <p:cNvSpPr txBox="true"/>
          <p:nvPr/>
        </p:nvSpPr>
        <p:spPr>
          <a:xfrm rot="0">
            <a:off x="2716254" y="6485635"/>
            <a:ext cx="14543046" cy="2613025"/>
          </a:xfrm>
          <a:prstGeom prst="rect">
            <a:avLst/>
          </a:prstGeom>
        </p:spPr>
        <p:txBody>
          <a:bodyPr anchor="t" rtlCol="false" tIns="0" lIns="0" bIns="0" rIns="0">
            <a:spAutoFit/>
          </a:bodyPr>
          <a:lstStyle/>
          <a:p>
            <a:pPr algn="l" marL="1079499" indent="-359833" lvl="2">
              <a:lnSpc>
                <a:spcPts val="3499"/>
              </a:lnSpc>
              <a:buFont typeface="Arial"/>
              <a:buChar char="⚬"/>
            </a:pPr>
            <a:r>
              <a:rPr lang="en-US" sz="2499">
                <a:solidFill>
                  <a:srgbClr val="5B7ABE"/>
                </a:solidFill>
                <a:latin typeface="Red Hat Display"/>
                <a:ea typeface="Red Hat Display"/>
                <a:cs typeface="Red Hat Display"/>
                <a:sym typeface="Red Hat Display"/>
              </a:rPr>
              <a:t>Đơn biến: Phân tích độc lập từng biến để xem vị trí trung tâm, độ phân tán và hình dạng phân phối4142.</a:t>
            </a:r>
          </a:p>
          <a:p>
            <a:pPr algn="l" marL="1079499" indent="-359833" lvl="2">
              <a:lnSpc>
                <a:spcPts val="3499"/>
              </a:lnSpc>
              <a:buFont typeface="Arial"/>
              <a:buChar char="⚬"/>
            </a:pPr>
            <a:r>
              <a:rPr lang="en-US" sz="2499">
                <a:solidFill>
                  <a:srgbClr val="5B7ABE"/>
                </a:solidFill>
                <a:latin typeface="Red Hat Display"/>
                <a:ea typeface="Red Hat Display"/>
                <a:cs typeface="Red Hat Display"/>
                <a:sym typeface="Red Hat Display"/>
              </a:rPr>
              <a:t>Hai biến: Khảo sát mối quan hệ giữa 2 biến (Số–Số qua Scatter/Heatmap; Số–Phân loại qua Boxplot/Violin plot; Phân loại–Phân loại qua Bar chart)43more_horiz.</a:t>
            </a:r>
          </a:p>
          <a:p>
            <a:pPr algn="l" marL="1079499" indent="-359833" lvl="2">
              <a:lnSpc>
                <a:spcPts val="3499"/>
              </a:lnSpc>
              <a:buFont typeface="Arial"/>
              <a:buChar char="⚬"/>
            </a:pPr>
            <a:r>
              <a:rPr lang="en-US" sz="2499">
                <a:solidFill>
                  <a:srgbClr val="5B7ABE"/>
                </a:solidFill>
                <a:latin typeface="Red Hat Display"/>
                <a:ea typeface="Red Hat Display"/>
                <a:cs typeface="Red Hat Display"/>
                <a:sym typeface="Red Hat Display"/>
              </a:rPr>
              <a:t>Tương quan (Correlation $r$) vs Hiệp biến (Covariance): Tương quan được chuẩn hóa về $[-1, 1]$ nên dễ so sánh giữa các cặp biến hơn hiệp biến45.</a:t>
            </a:r>
          </a:p>
        </p:txBody>
      </p:sp>
      <p:sp>
        <p:nvSpPr>
          <p:cNvPr name="TextBox 8" id="8"/>
          <p:cNvSpPr txBox="true"/>
          <p:nvPr/>
        </p:nvSpPr>
        <p:spPr>
          <a:xfrm rot="0">
            <a:off x="3789969" y="5957447"/>
            <a:ext cx="9704486" cy="870179"/>
          </a:xfrm>
          <a:prstGeom prst="rect">
            <a:avLst/>
          </a:prstGeom>
        </p:spPr>
        <p:txBody>
          <a:bodyPr anchor="t" rtlCol="false" tIns="0" lIns="0" bIns="0" rIns="0">
            <a:spAutoFit/>
          </a:bodyPr>
          <a:lstStyle/>
          <a:p>
            <a:pPr algn="l">
              <a:lnSpc>
                <a:spcPts val="3483"/>
              </a:lnSpc>
            </a:pPr>
            <a:r>
              <a:rPr lang="en-US" sz="2799" b="true">
                <a:solidFill>
                  <a:srgbClr val="2D2261"/>
                </a:solidFill>
                <a:latin typeface="Red Hat Display Bold"/>
                <a:ea typeface="Red Hat Display Bold"/>
                <a:cs typeface="Red Hat Display Bold"/>
                <a:sym typeface="Red Hat Display Bold"/>
              </a:rPr>
              <a:t>Phân tích Đơn biến (Univariate) vs. Hai biến (Bivariate):</a:t>
            </a:r>
          </a:p>
          <a:p>
            <a:pPr algn="l">
              <a:lnSpc>
                <a:spcPts val="3483"/>
              </a:lnSpc>
            </a:pPr>
          </a:p>
        </p:txBody>
      </p:sp>
      <p:sp>
        <p:nvSpPr>
          <p:cNvPr name="Freeform 9" id="9"/>
          <p:cNvSpPr/>
          <p:nvPr/>
        </p:nvSpPr>
        <p:spPr>
          <a:xfrm flipH="false" flipV="false" rot="715246">
            <a:off x="13895638" y="-2804932"/>
            <a:ext cx="6727323" cy="4586811"/>
          </a:xfrm>
          <a:custGeom>
            <a:avLst/>
            <a:gdLst/>
            <a:ahLst/>
            <a:cxnLst/>
            <a:rect r="r" b="b" t="t" l="l"/>
            <a:pathLst>
              <a:path h="4586811" w="6727323">
                <a:moveTo>
                  <a:pt x="0" y="0"/>
                </a:moveTo>
                <a:lnTo>
                  <a:pt x="6727324" y="0"/>
                </a:lnTo>
                <a:lnTo>
                  <a:pt x="6727324" y="4586811"/>
                </a:lnTo>
                <a:lnTo>
                  <a:pt x="0" y="4586811"/>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635325">
            <a:off x="-3953510" y="8811526"/>
            <a:ext cx="7907020" cy="6699403"/>
          </a:xfrm>
          <a:custGeom>
            <a:avLst/>
            <a:gdLst/>
            <a:ahLst/>
            <a:cxnLst/>
            <a:rect r="r" b="b" t="t" l="l"/>
            <a:pathLst>
              <a:path h="6699403" w="7907020">
                <a:moveTo>
                  <a:pt x="0" y="0"/>
                </a:moveTo>
                <a:lnTo>
                  <a:pt x="7907020" y="0"/>
                </a:lnTo>
                <a:lnTo>
                  <a:pt x="7907020" y="6699402"/>
                </a:lnTo>
                <a:lnTo>
                  <a:pt x="0" y="6699402"/>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226878">
            <a:off x="-2720916" y="-728116"/>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175026">
            <a:off x="16376299" y="7891685"/>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3263285"/>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591384" y="2603530"/>
            <a:ext cx="6925852" cy="6014556"/>
          </a:xfrm>
          <a:custGeom>
            <a:avLst/>
            <a:gdLst/>
            <a:ahLst/>
            <a:cxnLst/>
            <a:rect r="r" b="b" t="t" l="l"/>
            <a:pathLst>
              <a:path h="6014556" w="6925852">
                <a:moveTo>
                  <a:pt x="0" y="0"/>
                </a:moveTo>
                <a:lnTo>
                  <a:pt x="6925853" y="0"/>
                </a:lnTo>
                <a:lnTo>
                  <a:pt x="6925853" y="6014556"/>
                </a:lnTo>
                <a:lnTo>
                  <a:pt x="0" y="6014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35325">
            <a:off x="-284700" y="7303008"/>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26878">
            <a:off x="-216283" y="-591145"/>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830696">
            <a:off x="14418611" y="8141980"/>
            <a:ext cx="2835471" cy="4114800"/>
          </a:xfrm>
          <a:custGeom>
            <a:avLst/>
            <a:gdLst/>
            <a:ahLst/>
            <a:cxnLst/>
            <a:rect r="r" b="b" t="t" l="l"/>
            <a:pathLst>
              <a:path h="4114800" w="2835471">
                <a:moveTo>
                  <a:pt x="0" y="0"/>
                </a:moveTo>
                <a:lnTo>
                  <a:pt x="2835472" y="0"/>
                </a:lnTo>
                <a:lnTo>
                  <a:pt x="2835472"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2480682" y="3255264"/>
            <a:ext cx="8114734" cy="3757422"/>
          </a:xfrm>
          <a:prstGeom prst="rect">
            <a:avLst/>
          </a:prstGeom>
        </p:spPr>
        <p:txBody>
          <a:bodyPr anchor="t" rtlCol="false" tIns="0" lIns="0" bIns="0" rIns="0">
            <a:spAutoFit/>
          </a:bodyPr>
          <a:lstStyle/>
          <a:p>
            <a:pPr algn="l">
              <a:lnSpc>
                <a:spcPts val="7464"/>
              </a:lnSpc>
            </a:pPr>
            <a:r>
              <a:rPr lang="en-US" sz="6000" b="true">
                <a:solidFill>
                  <a:srgbClr val="2D2261"/>
                </a:solidFill>
                <a:latin typeface="Red Hat Display Bold"/>
                <a:ea typeface="Red Hat Display Bold"/>
                <a:cs typeface="Red Hat Display Bold"/>
                <a:sym typeface="Red Hat Display Bold"/>
              </a:rPr>
              <a:t>CHƯƠNG 5</a:t>
            </a:r>
          </a:p>
          <a:p>
            <a:pPr algn="l">
              <a:lnSpc>
                <a:spcPts val="7464"/>
              </a:lnSpc>
            </a:pPr>
            <a:r>
              <a:rPr lang="en-US" b="true" sz="6000">
                <a:solidFill>
                  <a:srgbClr val="2D2261"/>
                </a:solidFill>
                <a:latin typeface="Red Hat Display Bold"/>
                <a:ea typeface="Red Hat Display Bold"/>
                <a:cs typeface="Red Hat Display Bold"/>
                <a:sym typeface="Red Hat Display Bold"/>
              </a:rPr>
              <a:t>TRỰC QUAN HÓA DỮ LIỆU RƯỢU ĐỎ VÀ TIỂU ĐƯỜNG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2539566" y="1631950"/>
            <a:ext cx="13466856" cy="3701885"/>
            <a:chOff x="0" y="0"/>
            <a:chExt cx="3546826" cy="974982"/>
          </a:xfrm>
        </p:grpSpPr>
        <p:sp>
          <p:nvSpPr>
            <p:cNvPr name="Freeform 3" id="3"/>
            <p:cNvSpPr/>
            <p:nvPr/>
          </p:nvSpPr>
          <p:spPr>
            <a:xfrm flipH="false" flipV="false" rot="0">
              <a:off x="0" y="0"/>
              <a:ext cx="3546826" cy="974982"/>
            </a:xfrm>
            <a:custGeom>
              <a:avLst/>
              <a:gdLst/>
              <a:ahLst/>
              <a:cxnLst/>
              <a:rect r="r" b="b" t="t" l="l"/>
              <a:pathLst>
                <a:path h="974982" w="3546826">
                  <a:moveTo>
                    <a:pt x="17247" y="0"/>
                  </a:moveTo>
                  <a:lnTo>
                    <a:pt x="3529580" y="0"/>
                  </a:lnTo>
                  <a:cubicBezTo>
                    <a:pt x="3534154" y="0"/>
                    <a:pt x="3538540" y="1817"/>
                    <a:pt x="3541775" y="5051"/>
                  </a:cubicBezTo>
                  <a:cubicBezTo>
                    <a:pt x="3545009" y="8286"/>
                    <a:pt x="3546826" y="12673"/>
                    <a:pt x="3546826" y="17247"/>
                  </a:cubicBezTo>
                  <a:lnTo>
                    <a:pt x="3546826" y="957735"/>
                  </a:lnTo>
                  <a:cubicBezTo>
                    <a:pt x="3546826" y="967260"/>
                    <a:pt x="3539105" y="974982"/>
                    <a:pt x="3529580" y="974982"/>
                  </a:cubicBezTo>
                  <a:lnTo>
                    <a:pt x="17247" y="974982"/>
                  </a:lnTo>
                  <a:cubicBezTo>
                    <a:pt x="7722" y="974982"/>
                    <a:pt x="0" y="967260"/>
                    <a:pt x="0" y="957735"/>
                  </a:cubicBezTo>
                  <a:lnTo>
                    <a:pt x="0" y="17247"/>
                  </a:lnTo>
                  <a:cubicBezTo>
                    <a:pt x="0" y="7722"/>
                    <a:pt x="7722" y="0"/>
                    <a:pt x="17247" y="0"/>
                  </a:cubicBezTo>
                  <a:close/>
                </a:path>
              </a:pathLst>
            </a:custGeom>
            <a:solidFill>
              <a:srgbClr val="ECE1D7"/>
            </a:solidFill>
          </p:spPr>
        </p:sp>
        <p:sp>
          <p:nvSpPr>
            <p:cNvPr name="TextBox 4" id="4"/>
            <p:cNvSpPr txBox="true"/>
            <p:nvPr/>
          </p:nvSpPr>
          <p:spPr>
            <a:xfrm>
              <a:off x="0" y="-47625"/>
              <a:ext cx="3546826" cy="1022607"/>
            </a:xfrm>
            <a:prstGeom prst="rect">
              <a:avLst/>
            </a:prstGeom>
          </p:spPr>
          <p:txBody>
            <a:bodyPr anchor="ctr" rtlCol="false" tIns="50800" lIns="50800" bIns="50800" rIns="50800"/>
            <a:lstStyle/>
            <a:p>
              <a:pPr algn="ctr">
                <a:lnSpc>
                  <a:spcPts val="3032"/>
                </a:lnSpc>
              </a:pPr>
            </a:p>
          </p:txBody>
        </p:sp>
      </p:grpSp>
      <p:grpSp>
        <p:nvGrpSpPr>
          <p:cNvPr name="Group 5" id="5"/>
          <p:cNvGrpSpPr/>
          <p:nvPr/>
        </p:nvGrpSpPr>
        <p:grpSpPr>
          <a:xfrm rot="0">
            <a:off x="2539566" y="609390"/>
            <a:ext cx="13466856" cy="1324117"/>
            <a:chOff x="0" y="0"/>
            <a:chExt cx="3546826" cy="348739"/>
          </a:xfrm>
        </p:grpSpPr>
        <p:sp>
          <p:nvSpPr>
            <p:cNvPr name="Freeform 6" id="6"/>
            <p:cNvSpPr/>
            <p:nvPr/>
          </p:nvSpPr>
          <p:spPr>
            <a:xfrm flipH="false" flipV="false" rot="0">
              <a:off x="0" y="0"/>
              <a:ext cx="3546826" cy="348739"/>
            </a:xfrm>
            <a:custGeom>
              <a:avLst/>
              <a:gdLst/>
              <a:ahLst/>
              <a:cxnLst/>
              <a:rect r="r" b="b" t="t" l="l"/>
              <a:pathLst>
                <a:path h="348739" w="3546826">
                  <a:moveTo>
                    <a:pt x="17247" y="0"/>
                  </a:moveTo>
                  <a:lnTo>
                    <a:pt x="3529580" y="0"/>
                  </a:lnTo>
                  <a:cubicBezTo>
                    <a:pt x="3534154" y="0"/>
                    <a:pt x="3538540" y="1817"/>
                    <a:pt x="3541775" y="5051"/>
                  </a:cubicBezTo>
                  <a:cubicBezTo>
                    <a:pt x="3545009" y="8286"/>
                    <a:pt x="3546826" y="12673"/>
                    <a:pt x="3546826" y="17247"/>
                  </a:cubicBezTo>
                  <a:lnTo>
                    <a:pt x="3546826" y="331492"/>
                  </a:lnTo>
                  <a:cubicBezTo>
                    <a:pt x="3546826" y="341017"/>
                    <a:pt x="3539105" y="348739"/>
                    <a:pt x="3529580" y="348739"/>
                  </a:cubicBezTo>
                  <a:lnTo>
                    <a:pt x="17247" y="348739"/>
                  </a:lnTo>
                  <a:cubicBezTo>
                    <a:pt x="7722" y="348739"/>
                    <a:pt x="0" y="341017"/>
                    <a:pt x="0" y="331492"/>
                  </a:cubicBezTo>
                  <a:lnTo>
                    <a:pt x="0" y="17247"/>
                  </a:lnTo>
                  <a:cubicBezTo>
                    <a:pt x="0" y="7722"/>
                    <a:pt x="7722" y="0"/>
                    <a:pt x="17247" y="0"/>
                  </a:cubicBezTo>
                  <a:close/>
                </a:path>
              </a:pathLst>
            </a:custGeom>
            <a:solidFill>
              <a:srgbClr val="5B7ABE"/>
            </a:solidFill>
          </p:spPr>
        </p:sp>
        <p:sp>
          <p:nvSpPr>
            <p:cNvPr name="TextBox 7" id="7"/>
            <p:cNvSpPr txBox="true"/>
            <p:nvPr/>
          </p:nvSpPr>
          <p:spPr>
            <a:xfrm>
              <a:off x="0" y="-47625"/>
              <a:ext cx="3546826" cy="396364"/>
            </a:xfrm>
            <a:prstGeom prst="rect">
              <a:avLst/>
            </a:prstGeom>
          </p:spPr>
          <p:txBody>
            <a:bodyPr anchor="ctr" rtlCol="false" tIns="50800" lIns="50800" bIns="50800" rIns="50800"/>
            <a:lstStyle/>
            <a:p>
              <a:pPr algn="ctr">
                <a:lnSpc>
                  <a:spcPts val="3032"/>
                </a:lnSpc>
              </a:pPr>
            </a:p>
          </p:txBody>
        </p:sp>
      </p:grpSp>
      <p:sp>
        <p:nvSpPr>
          <p:cNvPr name="TextBox 8" id="8"/>
          <p:cNvSpPr txBox="true"/>
          <p:nvPr/>
        </p:nvSpPr>
        <p:spPr>
          <a:xfrm rot="0">
            <a:off x="1567019" y="962025"/>
            <a:ext cx="14439403" cy="669925"/>
          </a:xfrm>
          <a:prstGeom prst="rect">
            <a:avLst/>
          </a:prstGeom>
        </p:spPr>
        <p:txBody>
          <a:bodyPr anchor="t" rtlCol="false" tIns="0" lIns="0" bIns="0" rIns="0">
            <a:spAutoFit/>
          </a:bodyPr>
          <a:lstStyle/>
          <a:p>
            <a:pPr algn="ctr">
              <a:lnSpc>
                <a:spcPts val="5599"/>
              </a:lnSpc>
            </a:pPr>
            <a:r>
              <a:rPr lang="en-US" b="true" sz="3999">
                <a:solidFill>
                  <a:srgbClr val="FBFCFE"/>
                </a:solidFill>
                <a:latin typeface="Red Hat Display Bold"/>
                <a:ea typeface="Red Hat Display Bold"/>
                <a:cs typeface="Red Hat Display Bold"/>
                <a:sym typeface="Red Hat Display Bold"/>
              </a:rPr>
              <a:t>Kết quả trực quan hóa Rượu đỏ (7 nhóm biểu đồ)</a:t>
            </a:r>
          </a:p>
        </p:txBody>
      </p:sp>
      <p:sp>
        <p:nvSpPr>
          <p:cNvPr name="TextBox 9" id="9"/>
          <p:cNvSpPr txBox="true"/>
          <p:nvPr/>
        </p:nvSpPr>
        <p:spPr>
          <a:xfrm rot="0">
            <a:off x="2749211" y="2092325"/>
            <a:ext cx="13047564" cy="30511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2D2261"/>
                </a:solidFill>
                <a:latin typeface="Red Hat Display"/>
                <a:ea typeface="Red Hat Display"/>
                <a:cs typeface="Red Hat Display"/>
                <a:sym typeface="Red Hat Display"/>
              </a:rPr>
              <a:t>Histogram &amp; KDE: Khẳng định lại dạng phân phối lệch phải của residual_sugar, chlorides, sulphates4647.</a:t>
            </a:r>
          </a:p>
          <a:p>
            <a:pPr algn="l" marL="539749" indent="-269875" lvl="1">
              <a:lnSpc>
                <a:spcPts val="3499"/>
              </a:lnSpc>
              <a:buFont typeface="Arial"/>
              <a:buChar char="•"/>
            </a:pPr>
            <a:r>
              <a:rPr lang="en-US" sz="2499">
                <a:solidFill>
                  <a:srgbClr val="2D2261"/>
                </a:solidFill>
                <a:latin typeface="Red Hat Display"/>
                <a:ea typeface="Red Hat Display"/>
                <a:cs typeface="Red Hat Display"/>
                <a:sym typeface="Red Hat Display"/>
              </a:rPr>
              <a:t>Heatmap tương quan: Phát hiện nguy cơ đa cộng tuyến giữa các cặp đặc trưng: fixed_acidity – citric_acid ($r = 0,67$), fixed_acidity – density ($r = 0,67$), fixed_acidity – pH ($r = -0,69$)4849.</a:t>
            </a:r>
          </a:p>
          <a:p>
            <a:pPr algn="l" marL="539749" indent="-269875" lvl="1">
              <a:lnSpc>
                <a:spcPts val="3499"/>
              </a:lnSpc>
              <a:buFont typeface="Arial"/>
              <a:buChar char="•"/>
            </a:pPr>
            <a:r>
              <a:rPr lang="en-US" sz="2499">
                <a:solidFill>
                  <a:srgbClr val="2D2261"/>
                </a:solidFill>
                <a:latin typeface="Red Hat Display"/>
                <a:ea typeface="Red Hat Display"/>
                <a:cs typeface="Red Hat Display"/>
                <a:sym typeface="Red Hat Display"/>
              </a:rPr>
              <a:t>Scat</a:t>
            </a:r>
            <a:r>
              <a:rPr lang="en-US" sz="2499">
                <a:solidFill>
                  <a:srgbClr val="2D2261"/>
                </a:solidFill>
                <a:latin typeface="Red Hat Display"/>
                <a:ea typeface="Red Hat Display"/>
                <a:cs typeface="Red Hat Display"/>
                <a:sym typeface="Red Hat Display"/>
              </a:rPr>
              <a:t>ter plot &amp; Line plot: Thể hiện rõ xu hướng tăng đơn điệu của alcohol và citric_acid</a:t>
            </a:r>
            <a:r>
              <a:rPr lang="en-US" sz="2499">
                <a:solidFill>
                  <a:srgbClr val="2D2261"/>
                </a:solidFill>
                <a:latin typeface="Red Hat Display"/>
                <a:ea typeface="Red Hat Display"/>
                <a:cs typeface="Red Hat Display"/>
                <a:sym typeface="Red Hat Display"/>
              </a:rPr>
              <a:t> khi quality tăng từ 3 lên 850more_horiz</a:t>
            </a:r>
          </a:p>
        </p:txBody>
      </p:sp>
      <p:sp>
        <p:nvSpPr>
          <p:cNvPr name="Freeform 10" id="10"/>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736403" y="5543385"/>
            <a:ext cx="5584977" cy="3780331"/>
          </a:xfrm>
          <a:custGeom>
            <a:avLst/>
            <a:gdLst/>
            <a:ahLst/>
            <a:cxnLst/>
            <a:rect r="r" b="b" t="t" l="l"/>
            <a:pathLst>
              <a:path h="3780331" w="5584977">
                <a:moveTo>
                  <a:pt x="0" y="0"/>
                </a:moveTo>
                <a:lnTo>
                  <a:pt x="5584976" y="0"/>
                </a:lnTo>
                <a:lnTo>
                  <a:pt x="5584976" y="3780331"/>
                </a:lnTo>
                <a:lnTo>
                  <a:pt x="0" y="3780331"/>
                </a:lnTo>
                <a:lnTo>
                  <a:pt x="0" y="0"/>
                </a:lnTo>
                <a:close/>
              </a:path>
            </a:pathLst>
          </a:custGeom>
          <a:blipFill>
            <a:blip r:embed="rId8"/>
            <a:stretch>
              <a:fillRect l="0" t="0" r="0" b="0"/>
            </a:stretch>
          </a:blipFill>
        </p:spPr>
      </p:sp>
      <p:sp>
        <p:nvSpPr>
          <p:cNvPr name="Freeform 14" id="14"/>
          <p:cNvSpPr/>
          <p:nvPr/>
        </p:nvSpPr>
        <p:spPr>
          <a:xfrm flipH="false" flipV="false" rot="0">
            <a:off x="6394653" y="5543385"/>
            <a:ext cx="5069993" cy="4074431"/>
          </a:xfrm>
          <a:custGeom>
            <a:avLst/>
            <a:gdLst/>
            <a:ahLst/>
            <a:cxnLst/>
            <a:rect r="r" b="b" t="t" l="l"/>
            <a:pathLst>
              <a:path h="4074431" w="5069993">
                <a:moveTo>
                  <a:pt x="0" y="0"/>
                </a:moveTo>
                <a:lnTo>
                  <a:pt x="5069994" y="0"/>
                </a:lnTo>
                <a:lnTo>
                  <a:pt x="5069994" y="4074431"/>
                </a:lnTo>
                <a:lnTo>
                  <a:pt x="0" y="4074431"/>
                </a:lnTo>
                <a:lnTo>
                  <a:pt x="0" y="0"/>
                </a:lnTo>
                <a:close/>
              </a:path>
            </a:pathLst>
          </a:custGeom>
          <a:blipFill>
            <a:blip r:embed="rId9"/>
            <a:stretch>
              <a:fillRect l="0" t="0" r="0" b="0"/>
            </a:stretch>
          </a:blipFill>
        </p:spPr>
      </p:sp>
      <p:sp>
        <p:nvSpPr>
          <p:cNvPr name="Freeform 15" id="15"/>
          <p:cNvSpPr/>
          <p:nvPr/>
        </p:nvSpPr>
        <p:spPr>
          <a:xfrm flipH="false" flipV="false" rot="0">
            <a:off x="11593418" y="5661706"/>
            <a:ext cx="5840565" cy="3956109"/>
          </a:xfrm>
          <a:custGeom>
            <a:avLst/>
            <a:gdLst/>
            <a:ahLst/>
            <a:cxnLst/>
            <a:rect r="r" b="b" t="t" l="l"/>
            <a:pathLst>
              <a:path h="3956109" w="5840565">
                <a:moveTo>
                  <a:pt x="0" y="0"/>
                </a:moveTo>
                <a:lnTo>
                  <a:pt x="5840565" y="0"/>
                </a:lnTo>
                <a:lnTo>
                  <a:pt x="5840565" y="3956110"/>
                </a:lnTo>
                <a:lnTo>
                  <a:pt x="0" y="3956110"/>
                </a:lnTo>
                <a:lnTo>
                  <a:pt x="0" y="0"/>
                </a:lnTo>
                <a:close/>
              </a:path>
            </a:pathLst>
          </a:custGeom>
          <a:blipFill>
            <a:blip r:embed="rId10"/>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2874689" y="1894448"/>
            <a:ext cx="13052549" cy="3587997"/>
            <a:chOff x="0" y="0"/>
            <a:chExt cx="3546826" cy="974982"/>
          </a:xfrm>
        </p:grpSpPr>
        <p:sp>
          <p:nvSpPr>
            <p:cNvPr name="Freeform 3" id="3"/>
            <p:cNvSpPr/>
            <p:nvPr/>
          </p:nvSpPr>
          <p:spPr>
            <a:xfrm flipH="false" flipV="false" rot="0">
              <a:off x="0" y="0"/>
              <a:ext cx="3546826" cy="974982"/>
            </a:xfrm>
            <a:custGeom>
              <a:avLst/>
              <a:gdLst/>
              <a:ahLst/>
              <a:cxnLst/>
              <a:rect r="r" b="b" t="t" l="l"/>
              <a:pathLst>
                <a:path h="974982" w="3546826">
                  <a:moveTo>
                    <a:pt x="17794" y="0"/>
                  </a:moveTo>
                  <a:lnTo>
                    <a:pt x="3529032" y="0"/>
                  </a:lnTo>
                  <a:cubicBezTo>
                    <a:pt x="3533751" y="0"/>
                    <a:pt x="3538277" y="1875"/>
                    <a:pt x="3541614" y="5212"/>
                  </a:cubicBezTo>
                  <a:cubicBezTo>
                    <a:pt x="3544951" y="8549"/>
                    <a:pt x="3546826" y="13075"/>
                    <a:pt x="3546826" y="17794"/>
                  </a:cubicBezTo>
                  <a:lnTo>
                    <a:pt x="3546826" y="957188"/>
                  </a:lnTo>
                  <a:cubicBezTo>
                    <a:pt x="3546826" y="967015"/>
                    <a:pt x="3538860" y="974982"/>
                    <a:pt x="3529032" y="974982"/>
                  </a:cubicBezTo>
                  <a:lnTo>
                    <a:pt x="17794" y="974982"/>
                  </a:lnTo>
                  <a:cubicBezTo>
                    <a:pt x="7967" y="974982"/>
                    <a:pt x="0" y="967015"/>
                    <a:pt x="0" y="957188"/>
                  </a:cubicBezTo>
                  <a:lnTo>
                    <a:pt x="0" y="17794"/>
                  </a:lnTo>
                  <a:cubicBezTo>
                    <a:pt x="0" y="7967"/>
                    <a:pt x="7967" y="0"/>
                    <a:pt x="17794" y="0"/>
                  </a:cubicBezTo>
                  <a:close/>
                </a:path>
              </a:pathLst>
            </a:custGeom>
            <a:solidFill>
              <a:srgbClr val="ECE1D7"/>
            </a:solidFill>
          </p:spPr>
        </p:sp>
        <p:sp>
          <p:nvSpPr>
            <p:cNvPr name="TextBox 4" id="4"/>
            <p:cNvSpPr txBox="true"/>
            <p:nvPr/>
          </p:nvSpPr>
          <p:spPr>
            <a:xfrm>
              <a:off x="0" y="-47625"/>
              <a:ext cx="3546826" cy="1022607"/>
            </a:xfrm>
            <a:prstGeom prst="rect">
              <a:avLst/>
            </a:prstGeom>
          </p:spPr>
          <p:txBody>
            <a:bodyPr anchor="ctr" rtlCol="false" tIns="50800" lIns="50800" bIns="50800" rIns="50800"/>
            <a:lstStyle/>
            <a:p>
              <a:pPr algn="ctr">
                <a:lnSpc>
                  <a:spcPts val="3032"/>
                </a:lnSpc>
              </a:pPr>
            </a:p>
          </p:txBody>
        </p:sp>
      </p:grpSp>
      <p:grpSp>
        <p:nvGrpSpPr>
          <p:cNvPr name="Group 5" id="5"/>
          <p:cNvGrpSpPr/>
          <p:nvPr/>
        </p:nvGrpSpPr>
        <p:grpSpPr>
          <a:xfrm rot="0">
            <a:off x="2874689" y="1075703"/>
            <a:ext cx="13052549" cy="1244040"/>
            <a:chOff x="0" y="0"/>
            <a:chExt cx="3546826" cy="338048"/>
          </a:xfrm>
        </p:grpSpPr>
        <p:sp>
          <p:nvSpPr>
            <p:cNvPr name="Freeform 6" id="6"/>
            <p:cNvSpPr/>
            <p:nvPr/>
          </p:nvSpPr>
          <p:spPr>
            <a:xfrm flipH="false" flipV="false" rot="0">
              <a:off x="0" y="0"/>
              <a:ext cx="3546826" cy="338048"/>
            </a:xfrm>
            <a:custGeom>
              <a:avLst/>
              <a:gdLst/>
              <a:ahLst/>
              <a:cxnLst/>
              <a:rect r="r" b="b" t="t" l="l"/>
              <a:pathLst>
                <a:path h="338048" w="3546826">
                  <a:moveTo>
                    <a:pt x="17794" y="0"/>
                  </a:moveTo>
                  <a:lnTo>
                    <a:pt x="3529032" y="0"/>
                  </a:lnTo>
                  <a:cubicBezTo>
                    <a:pt x="3533751" y="0"/>
                    <a:pt x="3538277" y="1875"/>
                    <a:pt x="3541614" y="5212"/>
                  </a:cubicBezTo>
                  <a:cubicBezTo>
                    <a:pt x="3544951" y="8549"/>
                    <a:pt x="3546826" y="13075"/>
                    <a:pt x="3546826" y="17794"/>
                  </a:cubicBezTo>
                  <a:lnTo>
                    <a:pt x="3546826" y="320254"/>
                  </a:lnTo>
                  <a:cubicBezTo>
                    <a:pt x="3546826" y="330082"/>
                    <a:pt x="3538860" y="338048"/>
                    <a:pt x="3529032" y="338048"/>
                  </a:cubicBezTo>
                  <a:lnTo>
                    <a:pt x="17794" y="338048"/>
                  </a:lnTo>
                  <a:cubicBezTo>
                    <a:pt x="7967" y="338048"/>
                    <a:pt x="0" y="330082"/>
                    <a:pt x="0" y="320254"/>
                  </a:cubicBezTo>
                  <a:lnTo>
                    <a:pt x="0" y="17794"/>
                  </a:lnTo>
                  <a:cubicBezTo>
                    <a:pt x="0" y="7967"/>
                    <a:pt x="7967" y="0"/>
                    <a:pt x="17794" y="0"/>
                  </a:cubicBezTo>
                  <a:close/>
                </a:path>
              </a:pathLst>
            </a:custGeom>
            <a:solidFill>
              <a:srgbClr val="5B7ABE"/>
            </a:solidFill>
          </p:spPr>
        </p:sp>
        <p:sp>
          <p:nvSpPr>
            <p:cNvPr name="TextBox 7" id="7"/>
            <p:cNvSpPr txBox="true"/>
            <p:nvPr/>
          </p:nvSpPr>
          <p:spPr>
            <a:xfrm>
              <a:off x="0" y="-47625"/>
              <a:ext cx="3546826" cy="385673"/>
            </a:xfrm>
            <a:prstGeom prst="rect">
              <a:avLst/>
            </a:prstGeom>
          </p:spPr>
          <p:txBody>
            <a:bodyPr anchor="ctr" rtlCol="false" tIns="50800" lIns="50800" bIns="50800" rIns="50800"/>
            <a:lstStyle/>
            <a:p>
              <a:pPr algn="ctr">
                <a:lnSpc>
                  <a:spcPts val="3032"/>
                </a:lnSpc>
              </a:pPr>
            </a:p>
          </p:txBody>
        </p:sp>
      </p:grpSp>
      <p:sp>
        <p:nvSpPr>
          <p:cNvPr name="TextBox 8" id="8"/>
          <p:cNvSpPr txBox="true"/>
          <p:nvPr/>
        </p:nvSpPr>
        <p:spPr>
          <a:xfrm rot="0">
            <a:off x="1932062" y="1303928"/>
            <a:ext cx="13995176" cy="660891"/>
          </a:xfrm>
          <a:prstGeom prst="rect">
            <a:avLst/>
          </a:prstGeom>
        </p:spPr>
        <p:txBody>
          <a:bodyPr anchor="t" rtlCol="false" tIns="0" lIns="0" bIns="0" rIns="0">
            <a:spAutoFit/>
          </a:bodyPr>
          <a:lstStyle/>
          <a:p>
            <a:pPr algn="ctr">
              <a:lnSpc>
                <a:spcPts val="5427"/>
              </a:lnSpc>
            </a:pPr>
            <a:r>
              <a:rPr lang="en-US" b="true" sz="3876">
                <a:solidFill>
                  <a:srgbClr val="FBFCFE"/>
                </a:solidFill>
                <a:latin typeface="Red Hat Display Bold"/>
                <a:ea typeface="Red Hat Display Bold"/>
                <a:cs typeface="Red Hat Display Bold"/>
                <a:sym typeface="Red Hat Display Bold"/>
              </a:rPr>
              <a:t>Kết quả trực quan hóa Bệnh tiểu đường</a:t>
            </a:r>
          </a:p>
        </p:txBody>
      </p:sp>
      <p:sp>
        <p:nvSpPr>
          <p:cNvPr name="TextBox 9" id="9"/>
          <p:cNvSpPr txBox="true"/>
          <p:nvPr/>
        </p:nvSpPr>
        <p:spPr>
          <a:xfrm rot="0">
            <a:off x="3077885" y="2383919"/>
            <a:ext cx="12646157" cy="2949246"/>
          </a:xfrm>
          <a:prstGeom prst="rect">
            <a:avLst/>
          </a:prstGeom>
        </p:spPr>
        <p:txBody>
          <a:bodyPr anchor="t" rtlCol="false" tIns="0" lIns="0" bIns="0" rIns="0">
            <a:spAutoFit/>
          </a:bodyPr>
          <a:lstStyle/>
          <a:p>
            <a:pPr algn="l" marL="523144" indent="-261572" lvl="1">
              <a:lnSpc>
                <a:spcPts val="3392"/>
              </a:lnSpc>
              <a:buFont typeface="Arial"/>
              <a:buChar char="•"/>
            </a:pPr>
            <a:r>
              <a:rPr lang="en-US" sz="2423">
                <a:solidFill>
                  <a:srgbClr val="2D2261"/>
                </a:solidFill>
                <a:latin typeface="Red Hat Display"/>
                <a:ea typeface="Red Hat Display"/>
                <a:cs typeface="Red Hat Display"/>
                <a:sym typeface="Red Hat Display"/>
              </a:rPr>
              <a:t>Phân tách nhóm: Violin plot và Boxplot cho thấy giá trị Glucose, BMI, Age và Pregnancies ở nhóm mắc bệnh (Outcome = 1) cao vượt trội so với nhóm không mắc bệnh.</a:t>
            </a:r>
          </a:p>
          <a:p>
            <a:pPr algn="l" marL="523144" indent="-261572" lvl="1">
              <a:lnSpc>
                <a:spcPts val="3392"/>
              </a:lnSpc>
              <a:buFont typeface="Arial"/>
              <a:buChar char="•"/>
            </a:pPr>
            <a:r>
              <a:rPr lang="en-US" sz="2423">
                <a:solidFill>
                  <a:srgbClr val="2D2261"/>
                </a:solidFill>
                <a:latin typeface="Red Hat Display"/>
                <a:ea typeface="Red Hat Display"/>
                <a:cs typeface="Red Hat Display"/>
                <a:sym typeface="Red Hat Display"/>
              </a:rPr>
              <a:t>Tỷ lệ mắc bệnh theo phân nhóm:</a:t>
            </a:r>
          </a:p>
          <a:p>
            <a:pPr algn="l" marL="523144" indent="-261572" lvl="1">
              <a:lnSpc>
                <a:spcPts val="3392"/>
              </a:lnSpc>
              <a:buFont typeface="Arial"/>
              <a:buChar char="•"/>
            </a:pPr>
            <a:r>
              <a:rPr lang="en-US" sz="2423">
                <a:solidFill>
                  <a:srgbClr val="2D2261"/>
                </a:solidFill>
                <a:latin typeface="Red Hat Display"/>
                <a:ea typeface="Red Hat Display"/>
                <a:cs typeface="Red Hat Display"/>
                <a:sym typeface="Red Hat Display"/>
              </a:rPr>
              <a:t>theo Độ tuổi: Tăng mạnh từ 21,6% (nhóm 21–30 tuổi) lên 56,6% – 57,4% (nhóm 41–60 tuổi).</a:t>
            </a:r>
          </a:p>
          <a:p>
            <a:pPr algn="l" marL="523144" indent="-261572" lvl="1">
              <a:lnSpc>
                <a:spcPts val="3392"/>
              </a:lnSpc>
              <a:buFont typeface="Arial"/>
              <a:buChar char="•"/>
            </a:pPr>
            <a:r>
              <a:rPr lang="en-US" sz="2423">
                <a:solidFill>
                  <a:srgbClr val="2D2261"/>
                </a:solidFill>
                <a:latin typeface="Red Hat Display"/>
                <a:ea typeface="Red Hat Display"/>
                <a:cs typeface="Red Hat Display"/>
                <a:sym typeface="Red Hat Display"/>
              </a:rPr>
              <a:t>theo Chỉ số BMI (Chuẩn WHO): Nhóm Bình thường chỉ mắc 6,5%, Thừa cân mắc 24,4%, trong</a:t>
            </a:r>
            <a:r>
              <a:rPr lang="en-US" sz="2423">
                <a:solidFill>
                  <a:srgbClr val="2D2261"/>
                </a:solidFill>
                <a:latin typeface="Red Hat Display"/>
                <a:ea typeface="Red Hat Display"/>
                <a:cs typeface="Red Hat Display"/>
                <a:sym typeface="Red Hat Display"/>
              </a:rPr>
              <a:t> khi nhóm Béo phì mắc tới 45,6%</a:t>
            </a:r>
          </a:p>
        </p:txBody>
      </p:sp>
      <p:sp>
        <p:nvSpPr>
          <p:cNvPr name="Freeform 10" id="10"/>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583629" y="5587220"/>
            <a:ext cx="8936266" cy="4105097"/>
          </a:xfrm>
          <a:custGeom>
            <a:avLst/>
            <a:gdLst/>
            <a:ahLst/>
            <a:cxnLst/>
            <a:rect r="r" b="b" t="t" l="l"/>
            <a:pathLst>
              <a:path h="4105097" w="8936266">
                <a:moveTo>
                  <a:pt x="0" y="0"/>
                </a:moveTo>
                <a:lnTo>
                  <a:pt x="8936265" y="0"/>
                </a:lnTo>
                <a:lnTo>
                  <a:pt x="8936265" y="4105097"/>
                </a:lnTo>
                <a:lnTo>
                  <a:pt x="0" y="4105097"/>
                </a:lnTo>
                <a:lnTo>
                  <a:pt x="0" y="0"/>
                </a:lnTo>
                <a:close/>
              </a:path>
            </a:pathLst>
          </a:custGeom>
          <a:blipFill>
            <a:blip r:embed="rId10"/>
            <a:stretch>
              <a:fillRect l="0" t="0" r="0" b="0"/>
            </a:stretch>
          </a:blipFill>
        </p:spPr>
      </p:sp>
      <p:sp>
        <p:nvSpPr>
          <p:cNvPr name="Freeform 15" id="15"/>
          <p:cNvSpPr/>
          <p:nvPr/>
        </p:nvSpPr>
        <p:spPr>
          <a:xfrm flipH="false" flipV="false" rot="0">
            <a:off x="10768111" y="5697476"/>
            <a:ext cx="5558472" cy="3884586"/>
          </a:xfrm>
          <a:custGeom>
            <a:avLst/>
            <a:gdLst/>
            <a:ahLst/>
            <a:cxnLst/>
            <a:rect r="r" b="b" t="t" l="l"/>
            <a:pathLst>
              <a:path h="3884586" w="5558472">
                <a:moveTo>
                  <a:pt x="0" y="0"/>
                </a:moveTo>
                <a:lnTo>
                  <a:pt x="5558472" y="0"/>
                </a:lnTo>
                <a:lnTo>
                  <a:pt x="5558472" y="3884585"/>
                </a:lnTo>
                <a:lnTo>
                  <a:pt x="0" y="3884585"/>
                </a:lnTo>
                <a:lnTo>
                  <a:pt x="0" y="0"/>
                </a:lnTo>
                <a:close/>
              </a:path>
            </a:pathLst>
          </a:custGeom>
          <a:blipFill>
            <a:blip r:embed="rId11"/>
            <a:stretch>
              <a:fillRect l="0" t="0" r="-697" b="-22844"/>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483214" y="952500"/>
            <a:ext cx="11360887" cy="1490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CHƯƠNG 3 – PHÂN TÍCH KHÁM PHÁ DỮ</a:t>
            </a:r>
            <a:r>
              <a:rPr lang="en-US" b="true" sz="4332">
                <a:solidFill>
                  <a:srgbClr val="2D2261"/>
                </a:solidFill>
                <a:latin typeface="Red Hat Display Bold"/>
                <a:ea typeface="Red Hat Display Bold"/>
                <a:cs typeface="Red Hat Display Bold"/>
                <a:sym typeface="Red Hat Display Bold"/>
              </a:rPr>
              <a:t> LIỆU LỚN ONLINE RETAIL</a:t>
            </a:r>
          </a:p>
        </p:txBody>
      </p:sp>
      <p:grpSp>
        <p:nvGrpSpPr>
          <p:cNvPr name="Group 3" id="3"/>
          <p:cNvGrpSpPr/>
          <p:nvPr/>
        </p:nvGrpSpPr>
        <p:grpSpPr>
          <a:xfrm rot="0">
            <a:off x="2281895" y="3949509"/>
            <a:ext cx="6881763" cy="4589884"/>
            <a:chOff x="0" y="0"/>
            <a:chExt cx="1812481" cy="1208858"/>
          </a:xfrm>
        </p:grpSpPr>
        <p:sp>
          <p:nvSpPr>
            <p:cNvPr name="Freeform 4" id="4"/>
            <p:cNvSpPr/>
            <p:nvPr/>
          </p:nvSpPr>
          <p:spPr>
            <a:xfrm flipH="false" flipV="false" rot="0">
              <a:off x="0" y="0"/>
              <a:ext cx="1812481" cy="1208858"/>
            </a:xfrm>
            <a:custGeom>
              <a:avLst/>
              <a:gdLst/>
              <a:ahLst/>
              <a:cxnLst/>
              <a:rect r="r" b="b" t="t" l="l"/>
              <a:pathLst>
                <a:path h="1208858" w="1812481">
                  <a:moveTo>
                    <a:pt x="33750" y="0"/>
                  </a:moveTo>
                  <a:lnTo>
                    <a:pt x="1778731" y="0"/>
                  </a:lnTo>
                  <a:cubicBezTo>
                    <a:pt x="1797370" y="0"/>
                    <a:pt x="1812481" y="15110"/>
                    <a:pt x="1812481" y="33750"/>
                  </a:cubicBezTo>
                  <a:lnTo>
                    <a:pt x="1812481" y="1175109"/>
                  </a:lnTo>
                  <a:cubicBezTo>
                    <a:pt x="1812481" y="1193748"/>
                    <a:pt x="1797370" y="1208858"/>
                    <a:pt x="1778731" y="1208858"/>
                  </a:cubicBezTo>
                  <a:lnTo>
                    <a:pt x="33750" y="1208858"/>
                  </a:lnTo>
                  <a:cubicBezTo>
                    <a:pt x="15110" y="1208858"/>
                    <a:pt x="0" y="1193748"/>
                    <a:pt x="0" y="1175109"/>
                  </a:cubicBezTo>
                  <a:lnTo>
                    <a:pt x="0" y="33750"/>
                  </a:lnTo>
                  <a:cubicBezTo>
                    <a:pt x="0" y="15110"/>
                    <a:pt x="15110" y="0"/>
                    <a:pt x="33750" y="0"/>
                  </a:cubicBezTo>
                  <a:close/>
                </a:path>
              </a:pathLst>
            </a:custGeom>
            <a:solidFill>
              <a:srgbClr val="ECE1D7"/>
            </a:solidFill>
          </p:spPr>
        </p:sp>
        <p:sp>
          <p:nvSpPr>
            <p:cNvPr name="TextBox 5" id="5"/>
            <p:cNvSpPr txBox="true"/>
            <p:nvPr/>
          </p:nvSpPr>
          <p:spPr>
            <a:xfrm>
              <a:off x="0" y="-47625"/>
              <a:ext cx="1812481" cy="1256483"/>
            </a:xfrm>
            <a:prstGeom prst="rect">
              <a:avLst/>
            </a:prstGeom>
          </p:spPr>
          <p:txBody>
            <a:bodyPr anchor="ctr" rtlCol="false" tIns="50800" lIns="50800" bIns="50800" rIns="50800"/>
            <a:lstStyle/>
            <a:p>
              <a:pPr algn="l" marL="431801" indent="-215900" lvl="1">
                <a:lnSpc>
                  <a:spcPts val="2800"/>
                </a:lnSpc>
                <a:buFont typeface="Arial"/>
                <a:buChar char="•"/>
              </a:pPr>
            </a:p>
          </p:txBody>
        </p:sp>
      </p:grpSp>
      <p:grpSp>
        <p:nvGrpSpPr>
          <p:cNvPr name="Group 6" id="6"/>
          <p:cNvGrpSpPr/>
          <p:nvPr/>
        </p:nvGrpSpPr>
        <p:grpSpPr>
          <a:xfrm rot="0">
            <a:off x="9144000" y="3949509"/>
            <a:ext cx="6823398" cy="5308791"/>
            <a:chOff x="0" y="0"/>
            <a:chExt cx="1797109" cy="1398200"/>
          </a:xfrm>
        </p:grpSpPr>
        <p:sp>
          <p:nvSpPr>
            <p:cNvPr name="Freeform 7" id="7"/>
            <p:cNvSpPr/>
            <p:nvPr/>
          </p:nvSpPr>
          <p:spPr>
            <a:xfrm flipH="false" flipV="false" rot="0">
              <a:off x="0" y="0"/>
              <a:ext cx="1797109" cy="1398200"/>
            </a:xfrm>
            <a:custGeom>
              <a:avLst/>
              <a:gdLst/>
              <a:ahLst/>
              <a:cxnLst/>
              <a:rect r="r" b="b" t="t" l="l"/>
              <a:pathLst>
                <a:path h="1398200" w="1797109">
                  <a:moveTo>
                    <a:pt x="34038" y="0"/>
                  </a:moveTo>
                  <a:lnTo>
                    <a:pt x="1763070" y="0"/>
                  </a:lnTo>
                  <a:cubicBezTo>
                    <a:pt x="1781869" y="0"/>
                    <a:pt x="1797109" y="15240"/>
                    <a:pt x="1797109" y="34038"/>
                  </a:cubicBezTo>
                  <a:lnTo>
                    <a:pt x="1797109" y="1364162"/>
                  </a:lnTo>
                  <a:cubicBezTo>
                    <a:pt x="1797109" y="1373189"/>
                    <a:pt x="1793523" y="1381847"/>
                    <a:pt x="1787139" y="1388230"/>
                  </a:cubicBezTo>
                  <a:cubicBezTo>
                    <a:pt x="1780756" y="1394614"/>
                    <a:pt x="1772098" y="1398200"/>
                    <a:pt x="1763070" y="1398200"/>
                  </a:cubicBezTo>
                  <a:lnTo>
                    <a:pt x="34038" y="1398200"/>
                  </a:lnTo>
                  <a:cubicBezTo>
                    <a:pt x="25011" y="1398200"/>
                    <a:pt x="16353" y="1394614"/>
                    <a:pt x="9970" y="1388230"/>
                  </a:cubicBezTo>
                  <a:cubicBezTo>
                    <a:pt x="3586" y="1381847"/>
                    <a:pt x="0" y="1373189"/>
                    <a:pt x="0" y="1364162"/>
                  </a:cubicBezTo>
                  <a:lnTo>
                    <a:pt x="0" y="34038"/>
                  </a:lnTo>
                  <a:cubicBezTo>
                    <a:pt x="0" y="25011"/>
                    <a:pt x="3586" y="16353"/>
                    <a:pt x="9970" y="9970"/>
                  </a:cubicBezTo>
                  <a:cubicBezTo>
                    <a:pt x="16353" y="3586"/>
                    <a:pt x="25011" y="0"/>
                    <a:pt x="34038" y="0"/>
                  </a:cubicBezTo>
                  <a:close/>
                </a:path>
              </a:pathLst>
            </a:custGeom>
            <a:solidFill>
              <a:srgbClr val="ECE1D7"/>
            </a:solidFill>
          </p:spPr>
        </p:sp>
        <p:sp>
          <p:nvSpPr>
            <p:cNvPr name="TextBox 8" id="8"/>
            <p:cNvSpPr txBox="true"/>
            <p:nvPr/>
          </p:nvSpPr>
          <p:spPr>
            <a:xfrm>
              <a:off x="0" y="-47625"/>
              <a:ext cx="1797109" cy="1445825"/>
            </a:xfrm>
            <a:prstGeom prst="rect">
              <a:avLst/>
            </a:prstGeom>
          </p:spPr>
          <p:txBody>
            <a:bodyPr anchor="ctr" rtlCol="false" tIns="50800" lIns="50800" bIns="50800" rIns="50800"/>
            <a:lstStyle/>
            <a:p>
              <a:pPr algn="l" marL="431801" indent="-215900" lvl="1">
                <a:lnSpc>
                  <a:spcPts val="2800"/>
                </a:lnSpc>
                <a:buFont typeface="Arial"/>
                <a:buChar char="•"/>
              </a:pPr>
            </a:p>
          </p:txBody>
        </p:sp>
      </p:grpSp>
      <p:grpSp>
        <p:nvGrpSpPr>
          <p:cNvPr name="Group 9" id="9"/>
          <p:cNvGrpSpPr/>
          <p:nvPr/>
        </p:nvGrpSpPr>
        <p:grpSpPr>
          <a:xfrm rot="0">
            <a:off x="2281895" y="3016101"/>
            <a:ext cx="6881763" cy="1352508"/>
            <a:chOff x="0" y="0"/>
            <a:chExt cx="1812481" cy="356216"/>
          </a:xfrm>
        </p:grpSpPr>
        <p:sp>
          <p:nvSpPr>
            <p:cNvPr name="Freeform 10" id="10"/>
            <p:cNvSpPr/>
            <p:nvPr/>
          </p:nvSpPr>
          <p:spPr>
            <a:xfrm flipH="false" flipV="false" rot="0">
              <a:off x="0" y="0"/>
              <a:ext cx="1812481" cy="356216"/>
            </a:xfrm>
            <a:custGeom>
              <a:avLst/>
              <a:gdLst/>
              <a:ahLst/>
              <a:cxnLst/>
              <a:rect r="r" b="b" t="t" l="l"/>
              <a:pathLst>
                <a:path h="356216" w="1812481">
                  <a:moveTo>
                    <a:pt x="33750" y="0"/>
                  </a:moveTo>
                  <a:lnTo>
                    <a:pt x="1778731" y="0"/>
                  </a:lnTo>
                  <a:cubicBezTo>
                    <a:pt x="1797370" y="0"/>
                    <a:pt x="1812481" y="15110"/>
                    <a:pt x="1812481" y="33750"/>
                  </a:cubicBezTo>
                  <a:lnTo>
                    <a:pt x="1812481" y="322466"/>
                  </a:lnTo>
                  <a:cubicBezTo>
                    <a:pt x="1812481" y="341106"/>
                    <a:pt x="1797370" y="356216"/>
                    <a:pt x="1778731" y="356216"/>
                  </a:cubicBezTo>
                  <a:lnTo>
                    <a:pt x="33750" y="356216"/>
                  </a:lnTo>
                  <a:cubicBezTo>
                    <a:pt x="15110" y="356216"/>
                    <a:pt x="0" y="341106"/>
                    <a:pt x="0" y="322466"/>
                  </a:cubicBezTo>
                  <a:lnTo>
                    <a:pt x="0" y="33750"/>
                  </a:lnTo>
                  <a:cubicBezTo>
                    <a:pt x="0" y="15110"/>
                    <a:pt x="15110" y="0"/>
                    <a:pt x="33750" y="0"/>
                  </a:cubicBezTo>
                  <a:close/>
                </a:path>
              </a:pathLst>
            </a:custGeom>
            <a:solidFill>
              <a:srgbClr val="5B7ABE"/>
            </a:solidFill>
          </p:spPr>
        </p:sp>
        <p:sp>
          <p:nvSpPr>
            <p:cNvPr name="TextBox 11" id="11"/>
            <p:cNvSpPr txBox="true"/>
            <p:nvPr/>
          </p:nvSpPr>
          <p:spPr>
            <a:xfrm>
              <a:off x="0" y="-47625"/>
              <a:ext cx="1812481" cy="403841"/>
            </a:xfrm>
            <a:prstGeom prst="rect">
              <a:avLst/>
            </a:prstGeom>
          </p:spPr>
          <p:txBody>
            <a:bodyPr anchor="ctr" rtlCol="false" tIns="50800" lIns="50800" bIns="50800" rIns="50800"/>
            <a:lstStyle/>
            <a:p>
              <a:pPr algn="ctr">
                <a:lnSpc>
                  <a:spcPts val="3032"/>
                </a:lnSpc>
              </a:pPr>
            </a:p>
          </p:txBody>
        </p:sp>
      </p:grpSp>
      <p:grpSp>
        <p:nvGrpSpPr>
          <p:cNvPr name="Group 12" id="12"/>
          <p:cNvGrpSpPr/>
          <p:nvPr/>
        </p:nvGrpSpPr>
        <p:grpSpPr>
          <a:xfrm rot="0">
            <a:off x="9163658" y="3016101"/>
            <a:ext cx="6842448" cy="1352508"/>
            <a:chOff x="0" y="0"/>
            <a:chExt cx="1802126" cy="356216"/>
          </a:xfrm>
        </p:grpSpPr>
        <p:sp>
          <p:nvSpPr>
            <p:cNvPr name="Freeform 13" id="13"/>
            <p:cNvSpPr/>
            <p:nvPr/>
          </p:nvSpPr>
          <p:spPr>
            <a:xfrm flipH="false" flipV="false" rot="0">
              <a:off x="0" y="0"/>
              <a:ext cx="1802126" cy="356216"/>
            </a:xfrm>
            <a:custGeom>
              <a:avLst/>
              <a:gdLst/>
              <a:ahLst/>
              <a:cxnLst/>
              <a:rect r="r" b="b" t="t" l="l"/>
              <a:pathLst>
                <a:path h="356216" w="1802126">
                  <a:moveTo>
                    <a:pt x="33944" y="0"/>
                  </a:moveTo>
                  <a:lnTo>
                    <a:pt x="1768182" y="0"/>
                  </a:lnTo>
                  <a:cubicBezTo>
                    <a:pt x="1786929" y="0"/>
                    <a:pt x="1802126" y="15197"/>
                    <a:pt x="1802126" y="33944"/>
                  </a:cubicBezTo>
                  <a:lnTo>
                    <a:pt x="1802126" y="322272"/>
                  </a:lnTo>
                  <a:cubicBezTo>
                    <a:pt x="1802126" y="331275"/>
                    <a:pt x="1798550" y="339908"/>
                    <a:pt x="1792184" y="346274"/>
                  </a:cubicBezTo>
                  <a:cubicBezTo>
                    <a:pt x="1785819" y="352640"/>
                    <a:pt x="1777185" y="356216"/>
                    <a:pt x="1768182" y="356216"/>
                  </a:cubicBezTo>
                  <a:lnTo>
                    <a:pt x="33944" y="356216"/>
                  </a:lnTo>
                  <a:cubicBezTo>
                    <a:pt x="15197" y="356216"/>
                    <a:pt x="0" y="341019"/>
                    <a:pt x="0" y="322272"/>
                  </a:cubicBezTo>
                  <a:lnTo>
                    <a:pt x="0" y="33944"/>
                  </a:lnTo>
                  <a:cubicBezTo>
                    <a:pt x="0" y="15197"/>
                    <a:pt x="15197" y="0"/>
                    <a:pt x="33944" y="0"/>
                  </a:cubicBezTo>
                  <a:close/>
                </a:path>
              </a:pathLst>
            </a:custGeom>
            <a:solidFill>
              <a:srgbClr val="5B7ABE"/>
            </a:solidFill>
          </p:spPr>
        </p:sp>
        <p:sp>
          <p:nvSpPr>
            <p:cNvPr name="TextBox 14" id="14"/>
            <p:cNvSpPr txBox="true"/>
            <p:nvPr/>
          </p:nvSpPr>
          <p:spPr>
            <a:xfrm>
              <a:off x="0" y="-47625"/>
              <a:ext cx="1802126" cy="403841"/>
            </a:xfrm>
            <a:prstGeom prst="rect">
              <a:avLst/>
            </a:prstGeom>
          </p:spPr>
          <p:txBody>
            <a:bodyPr anchor="ctr" rtlCol="false" tIns="50800" lIns="50800" bIns="50800" rIns="50800"/>
            <a:lstStyle/>
            <a:p>
              <a:pPr algn="ctr">
                <a:lnSpc>
                  <a:spcPts val="3032"/>
                </a:lnSpc>
              </a:pPr>
            </a:p>
          </p:txBody>
        </p:sp>
      </p:grpSp>
      <p:sp>
        <p:nvSpPr>
          <p:cNvPr name="TextBox 15" id="15"/>
          <p:cNvSpPr txBox="true"/>
          <p:nvPr/>
        </p:nvSpPr>
        <p:spPr>
          <a:xfrm rot="0">
            <a:off x="2281895" y="4662889"/>
            <a:ext cx="6862105" cy="2463800"/>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2D2261"/>
                </a:solidFill>
                <a:latin typeface="Roboto Slab"/>
                <a:ea typeface="Roboto Slab"/>
                <a:cs typeface="Roboto Slab"/>
                <a:sym typeface="Roboto Slab"/>
              </a:rPr>
              <a:t>Phát hiện và loại bỏ các vấn đề dữ liệu: 5.268 dòng trùng lặp, 9.288 dòng thuộc hóa đơn hủy (bắt đầu bằng chữ 'C'), 10.624 dòng Quantity &lt;= 0, 2.517 dòng UnitPrice &lt;= 0, và 135.080 dòng thiếu CustomerID.</a:t>
            </a:r>
          </a:p>
          <a:p>
            <a:pPr algn="l" marL="431801" indent="-215900" lvl="1">
              <a:lnSpc>
                <a:spcPts val="2800"/>
              </a:lnSpc>
              <a:buFont typeface="Arial"/>
              <a:buChar char="•"/>
            </a:pPr>
            <a:r>
              <a:rPr lang="en-US" sz="2000">
                <a:solidFill>
                  <a:srgbClr val="2D2261"/>
                </a:solidFill>
                <a:latin typeface="Roboto Slab"/>
                <a:ea typeface="Roboto Slab"/>
                <a:cs typeface="Roboto Slab"/>
                <a:sym typeface="Roboto Slab"/>
              </a:rPr>
              <a:t>Giữ lại 385.929 dòng hợp lệ (71,2% dữ liệu ban đầu) với tổng doanh thu £8.911.407,90</a:t>
            </a:r>
          </a:p>
          <a:p>
            <a:pPr algn="l">
              <a:lnSpc>
                <a:spcPts val="2800"/>
              </a:lnSpc>
            </a:pPr>
          </a:p>
        </p:txBody>
      </p:sp>
      <p:sp>
        <p:nvSpPr>
          <p:cNvPr name="TextBox 16" id="16"/>
          <p:cNvSpPr txBox="true"/>
          <p:nvPr/>
        </p:nvSpPr>
        <p:spPr>
          <a:xfrm rot="0">
            <a:off x="8700089" y="5095875"/>
            <a:ext cx="7306016" cy="3168650"/>
          </a:xfrm>
          <a:prstGeom prst="rect">
            <a:avLst/>
          </a:prstGeom>
        </p:spPr>
        <p:txBody>
          <a:bodyPr anchor="t" rtlCol="false" tIns="0" lIns="0" bIns="0" rIns="0">
            <a:spAutoFit/>
          </a:bodyPr>
          <a:lstStyle/>
          <a:p>
            <a:pPr algn="l" marL="863601" indent="-287867" lvl="2">
              <a:lnSpc>
                <a:spcPts val="2800"/>
              </a:lnSpc>
              <a:buFont typeface="Arial"/>
              <a:buChar char="⚬"/>
            </a:pPr>
            <a:r>
              <a:rPr lang="en-US" sz="2000">
                <a:solidFill>
                  <a:srgbClr val="2D2261"/>
                </a:solidFill>
                <a:latin typeface="Roboto Slab"/>
                <a:ea typeface="Roboto Slab"/>
                <a:cs typeface="Roboto Slab"/>
                <a:sym typeface="Roboto Slab"/>
              </a:rPr>
              <a:t>Thị trường chính: Vương quốc Anh (UK) áp đảo tuyệt đối, đóng góp 82,2% tổng doanh thu (£7.308.392).</a:t>
            </a:r>
          </a:p>
          <a:p>
            <a:pPr algn="l" marL="863601" indent="-287867" lvl="2">
              <a:lnSpc>
                <a:spcPts val="2800"/>
              </a:lnSpc>
              <a:buFont typeface="Arial"/>
              <a:buChar char="⚬"/>
            </a:pPr>
            <a:r>
              <a:rPr lang="en-US" sz="2000">
                <a:solidFill>
                  <a:srgbClr val="2D2261"/>
                </a:solidFill>
                <a:latin typeface="Roboto Slab"/>
                <a:ea typeface="Roboto Slab"/>
                <a:cs typeface="Roboto Slab"/>
                <a:sym typeface="Roboto Slab"/>
              </a:rPr>
              <a:t>Tính mùa vụ: Doanh thu tăng vọt từ tháng 9 và đạt đỉnh vào tháng 11/2011 (£1.112.575) do nhu cầu mua sắm Giáng sinh &amp; cuối năm.</a:t>
            </a:r>
          </a:p>
          <a:p>
            <a:pPr algn="l" marL="863601" indent="-287867" lvl="2">
              <a:lnSpc>
                <a:spcPts val="2800"/>
              </a:lnSpc>
              <a:buFont typeface="Arial"/>
              <a:buChar char="⚬"/>
            </a:pPr>
            <a:r>
              <a:rPr lang="en-US" sz="2000">
                <a:solidFill>
                  <a:srgbClr val="2D2261"/>
                </a:solidFill>
                <a:latin typeface="Roboto Slab"/>
                <a:ea typeface="Roboto Slab"/>
                <a:cs typeface="Roboto Slab"/>
                <a:sym typeface="Roboto Slab"/>
              </a:rPr>
              <a:t>Hành vi mua sắm: Khung giờ mua sắm cao điểm là 11h – 13h trưa; Thứ 5 có số đơn hàng cao nhất; Thứ 7 hoàn toàn không có giao dịch (cửa hàng bán sỉ nghỉ cuối tuần).</a:t>
            </a:r>
          </a:p>
        </p:txBody>
      </p:sp>
      <p:sp>
        <p:nvSpPr>
          <p:cNvPr name="Freeform 17" id="17"/>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2624874">
            <a:off x="-884948" y="9077955"/>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2830696">
            <a:off x="16870264" y="-1479623"/>
            <a:ext cx="2835471" cy="4114800"/>
          </a:xfrm>
          <a:custGeom>
            <a:avLst/>
            <a:gdLst/>
            <a:ahLst/>
            <a:cxnLst/>
            <a:rect r="r" b="b" t="t" l="l"/>
            <a:pathLst>
              <a:path h="4114800" w="2835471">
                <a:moveTo>
                  <a:pt x="0" y="0"/>
                </a:moveTo>
                <a:lnTo>
                  <a:pt x="2835472" y="0"/>
                </a:lnTo>
                <a:lnTo>
                  <a:pt x="283547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0">
            <a:off x="2281895" y="7126689"/>
            <a:ext cx="6900813" cy="2107637"/>
          </a:xfrm>
          <a:custGeom>
            <a:avLst/>
            <a:gdLst/>
            <a:ahLst/>
            <a:cxnLst/>
            <a:rect r="r" b="b" t="t" l="l"/>
            <a:pathLst>
              <a:path h="2107637" w="6900813">
                <a:moveTo>
                  <a:pt x="0" y="0"/>
                </a:moveTo>
                <a:lnTo>
                  <a:pt x="6900813" y="0"/>
                </a:lnTo>
                <a:lnTo>
                  <a:pt x="6900813" y="2107638"/>
                </a:lnTo>
                <a:lnTo>
                  <a:pt x="0" y="2107638"/>
                </a:lnTo>
                <a:lnTo>
                  <a:pt x="0" y="0"/>
                </a:lnTo>
                <a:close/>
              </a:path>
            </a:pathLst>
          </a:custGeom>
          <a:blipFill>
            <a:blip r:embed="rId10"/>
            <a:stretch>
              <a:fillRect l="0" t="0" r="0" b="0"/>
            </a:stretch>
          </a:blipFill>
        </p:spPr>
      </p:sp>
      <p:sp>
        <p:nvSpPr>
          <p:cNvPr name="TextBox 22" id="22"/>
          <p:cNvSpPr txBox="true"/>
          <p:nvPr/>
        </p:nvSpPr>
        <p:spPr>
          <a:xfrm rot="0">
            <a:off x="2281895" y="3347549"/>
            <a:ext cx="6014822" cy="8153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Quy trình làm sạch dữ liệu lớn (541.909 dòng thô)</a:t>
            </a:r>
          </a:p>
        </p:txBody>
      </p:sp>
      <p:sp>
        <p:nvSpPr>
          <p:cNvPr name="TextBox 23" id="23"/>
          <p:cNvSpPr txBox="true"/>
          <p:nvPr/>
        </p:nvSpPr>
        <p:spPr>
          <a:xfrm rot="0">
            <a:off x="9720909" y="3347549"/>
            <a:ext cx="6094383" cy="815340"/>
          </a:xfrm>
          <a:prstGeom prst="rect">
            <a:avLst/>
          </a:prstGeom>
        </p:spPr>
        <p:txBody>
          <a:bodyPr anchor="t" rtlCol="false" tIns="0" lIns="0" bIns="0" rIns="0">
            <a:spAutoFit/>
          </a:bodyPr>
          <a:lstStyle/>
          <a:p>
            <a:pPr algn="ctr">
              <a:lnSpc>
                <a:spcPts val="3359"/>
              </a:lnSpc>
            </a:pPr>
            <a:r>
              <a:rPr lang="en-US" sz="2400" b="true">
                <a:solidFill>
                  <a:srgbClr val="FBFCFE"/>
                </a:solidFill>
                <a:latin typeface="Red Hat Display Bold"/>
                <a:ea typeface="Red Hat Display Bold"/>
                <a:cs typeface="Red Hat Display Bold"/>
                <a:sym typeface="Red Hat Display Bold"/>
              </a:rPr>
              <a:t>Insight Doanh thu &amp; Thị trường</a:t>
            </a:r>
          </a:p>
          <a:p>
            <a:pPr algn="ctr">
              <a:lnSpc>
                <a:spcPts val="335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2845482" y="2478584"/>
            <a:ext cx="13052549" cy="3249052"/>
            <a:chOff x="0" y="0"/>
            <a:chExt cx="3546826" cy="882879"/>
          </a:xfrm>
        </p:grpSpPr>
        <p:sp>
          <p:nvSpPr>
            <p:cNvPr name="Freeform 3" id="3"/>
            <p:cNvSpPr/>
            <p:nvPr/>
          </p:nvSpPr>
          <p:spPr>
            <a:xfrm flipH="false" flipV="false" rot="0">
              <a:off x="0" y="0"/>
              <a:ext cx="3546826" cy="882879"/>
            </a:xfrm>
            <a:custGeom>
              <a:avLst/>
              <a:gdLst/>
              <a:ahLst/>
              <a:cxnLst/>
              <a:rect r="r" b="b" t="t" l="l"/>
              <a:pathLst>
                <a:path h="882879" w="3546826">
                  <a:moveTo>
                    <a:pt x="17794" y="0"/>
                  </a:moveTo>
                  <a:lnTo>
                    <a:pt x="3529032" y="0"/>
                  </a:lnTo>
                  <a:cubicBezTo>
                    <a:pt x="3533751" y="0"/>
                    <a:pt x="3538277" y="1875"/>
                    <a:pt x="3541614" y="5212"/>
                  </a:cubicBezTo>
                  <a:cubicBezTo>
                    <a:pt x="3544951" y="8549"/>
                    <a:pt x="3546826" y="13075"/>
                    <a:pt x="3546826" y="17794"/>
                  </a:cubicBezTo>
                  <a:lnTo>
                    <a:pt x="3546826" y="865085"/>
                  </a:lnTo>
                  <a:cubicBezTo>
                    <a:pt x="3546826" y="874912"/>
                    <a:pt x="3538860" y="882879"/>
                    <a:pt x="3529032" y="882879"/>
                  </a:cubicBezTo>
                  <a:lnTo>
                    <a:pt x="17794" y="882879"/>
                  </a:lnTo>
                  <a:cubicBezTo>
                    <a:pt x="7967" y="882879"/>
                    <a:pt x="0" y="874912"/>
                    <a:pt x="0" y="865085"/>
                  </a:cubicBezTo>
                  <a:lnTo>
                    <a:pt x="0" y="17794"/>
                  </a:lnTo>
                  <a:cubicBezTo>
                    <a:pt x="0" y="7967"/>
                    <a:pt x="7967" y="0"/>
                    <a:pt x="17794" y="0"/>
                  </a:cubicBezTo>
                  <a:close/>
                </a:path>
              </a:pathLst>
            </a:custGeom>
            <a:solidFill>
              <a:srgbClr val="ECE1D7"/>
            </a:solidFill>
          </p:spPr>
        </p:sp>
        <p:sp>
          <p:nvSpPr>
            <p:cNvPr name="TextBox 4" id="4"/>
            <p:cNvSpPr txBox="true"/>
            <p:nvPr/>
          </p:nvSpPr>
          <p:spPr>
            <a:xfrm>
              <a:off x="0" y="-47625"/>
              <a:ext cx="3546826" cy="930504"/>
            </a:xfrm>
            <a:prstGeom prst="rect">
              <a:avLst/>
            </a:prstGeom>
          </p:spPr>
          <p:txBody>
            <a:bodyPr anchor="ctr" rtlCol="false" tIns="50800" lIns="50800" bIns="50800" rIns="50800"/>
            <a:lstStyle/>
            <a:p>
              <a:pPr algn="ctr">
                <a:lnSpc>
                  <a:spcPts val="3032"/>
                </a:lnSpc>
              </a:pPr>
            </a:p>
          </p:txBody>
        </p:sp>
      </p:grpSp>
      <p:grpSp>
        <p:nvGrpSpPr>
          <p:cNvPr name="Group 5" id="5"/>
          <p:cNvGrpSpPr/>
          <p:nvPr/>
        </p:nvGrpSpPr>
        <p:grpSpPr>
          <a:xfrm rot="0">
            <a:off x="2845482" y="1659838"/>
            <a:ext cx="13052549" cy="1244040"/>
            <a:chOff x="0" y="0"/>
            <a:chExt cx="3546826" cy="338048"/>
          </a:xfrm>
        </p:grpSpPr>
        <p:sp>
          <p:nvSpPr>
            <p:cNvPr name="Freeform 6" id="6"/>
            <p:cNvSpPr/>
            <p:nvPr/>
          </p:nvSpPr>
          <p:spPr>
            <a:xfrm flipH="false" flipV="false" rot="0">
              <a:off x="0" y="0"/>
              <a:ext cx="3546826" cy="338048"/>
            </a:xfrm>
            <a:custGeom>
              <a:avLst/>
              <a:gdLst/>
              <a:ahLst/>
              <a:cxnLst/>
              <a:rect r="r" b="b" t="t" l="l"/>
              <a:pathLst>
                <a:path h="338048" w="3546826">
                  <a:moveTo>
                    <a:pt x="17794" y="0"/>
                  </a:moveTo>
                  <a:lnTo>
                    <a:pt x="3529032" y="0"/>
                  </a:lnTo>
                  <a:cubicBezTo>
                    <a:pt x="3533751" y="0"/>
                    <a:pt x="3538277" y="1875"/>
                    <a:pt x="3541614" y="5212"/>
                  </a:cubicBezTo>
                  <a:cubicBezTo>
                    <a:pt x="3544951" y="8549"/>
                    <a:pt x="3546826" y="13075"/>
                    <a:pt x="3546826" y="17794"/>
                  </a:cubicBezTo>
                  <a:lnTo>
                    <a:pt x="3546826" y="320254"/>
                  </a:lnTo>
                  <a:cubicBezTo>
                    <a:pt x="3546826" y="330082"/>
                    <a:pt x="3538860" y="338048"/>
                    <a:pt x="3529032" y="338048"/>
                  </a:cubicBezTo>
                  <a:lnTo>
                    <a:pt x="17794" y="338048"/>
                  </a:lnTo>
                  <a:cubicBezTo>
                    <a:pt x="7967" y="338048"/>
                    <a:pt x="0" y="330082"/>
                    <a:pt x="0" y="320254"/>
                  </a:cubicBezTo>
                  <a:lnTo>
                    <a:pt x="0" y="17794"/>
                  </a:lnTo>
                  <a:cubicBezTo>
                    <a:pt x="0" y="7967"/>
                    <a:pt x="7967" y="0"/>
                    <a:pt x="17794" y="0"/>
                  </a:cubicBezTo>
                  <a:close/>
                </a:path>
              </a:pathLst>
            </a:custGeom>
            <a:solidFill>
              <a:srgbClr val="5B7ABE"/>
            </a:solidFill>
          </p:spPr>
        </p:sp>
        <p:sp>
          <p:nvSpPr>
            <p:cNvPr name="TextBox 7" id="7"/>
            <p:cNvSpPr txBox="true"/>
            <p:nvPr/>
          </p:nvSpPr>
          <p:spPr>
            <a:xfrm>
              <a:off x="0" y="-47625"/>
              <a:ext cx="3546826" cy="385673"/>
            </a:xfrm>
            <a:prstGeom prst="rect">
              <a:avLst/>
            </a:prstGeom>
          </p:spPr>
          <p:txBody>
            <a:bodyPr anchor="ctr" rtlCol="false" tIns="50800" lIns="50800" bIns="50800" rIns="50800"/>
            <a:lstStyle/>
            <a:p>
              <a:pPr algn="ctr">
                <a:lnSpc>
                  <a:spcPts val="3032"/>
                </a:lnSpc>
              </a:pPr>
            </a:p>
          </p:txBody>
        </p:sp>
      </p:grpSp>
      <p:sp>
        <p:nvSpPr>
          <p:cNvPr name="TextBox 8" id="8"/>
          <p:cNvSpPr txBox="true"/>
          <p:nvPr/>
        </p:nvSpPr>
        <p:spPr>
          <a:xfrm rot="0">
            <a:off x="1902855" y="1888063"/>
            <a:ext cx="13995176" cy="660891"/>
          </a:xfrm>
          <a:prstGeom prst="rect">
            <a:avLst/>
          </a:prstGeom>
        </p:spPr>
        <p:txBody>
          <a:bodyPr anchor="t" rtlCol="false" tIns="0" lIns="0" bIns="0" rIns="0">
            <a:spAutoFit/>
          </a:bodyPr>
          <a:lstStyle/>
          <a:p>
            <a:pPr algn="ctr">
              <a:lnSpc>
                <a:spcPts val="5427"/>
              </a:lnSpc>
            </a:pPr>
            <a:r>
              <a:rPr lang="en-US" b="true" sz="3876">
                <a:solidFill>
                  <a:srgbClr val="FBFCFE"/>
                </a:solidFill>
                <a:latin typeface="Red Hat Display Bold"/>
                <a:ea typeface="Red Hat Display Bold"/>
                <a:cs typeface="Red Hat Display Bold"/>
                <a:sym typeface="Red Hat Display Bold"/>
              </a:rPr>
              <a:t>Insight Doanh thu &amp; Thị trường</a:t>
            </a:r>
          </a:p>
        </p:txBody>
      </p:sp>
      <p:sp>
        <p:nvSpPr>
          <p:cNvPr name="TextBox 9" id="9"/>
          <p:cNvSpPr txBox="true"/>
          <p:nvPr/>
        </p:nvSpPr>
        <p:spPr>
          <a:xfrm rot="0">
            <a:off x="3048678" y="2968055"/>
            <a:ext cx="12646157" cy="2524576"/>
          </a:xfrm>
          <a:prstGeom prst="rect">
            <a:avLst/>
          </a:prstGeom>
        </p:spPr>
        <p:txBody>
          <a:bodyPr anchor="t" rtlCol="false" tIns="0" lIns="0" bIns="0" rIns="0">
            <a:spAutoFit/>
          </a:bodyPr>
          <a:lstStyle/>
          <a:p>
            <a:pPr algn="l" marL="523144" indent="-261572" lvl="1">
              <a:lnSpc>
                <a:spcPts val="3392"/>
              </a:lnSpc>
              <a:buFont typeface="Arial"/>
              <a:buChar char="•"/>
            </a:pPr>
            <a:r>
              <a:rPr lang="en-US" sz="2423">
                <a:solidFill>
                  <a:srgbClr val="2D2261"/>
                </a:solidFill>
                <a:latin typeface="Red Hat Display"/>
                <a:ea typeface="Red Hat Display"/>
                <a:cs typeface="Red Hat Display"/>
                <a:sym typeface="Red Hat Display"/>
              </a:rPr>
              <a:t>Thị trường chính: Vương quốc Anh (UK) áp đảo tuyệt đối, đóng góp 82,2% tổng doanh thu (£7.308.392).</a:t>
            </a:r>
          </a:p>
          <a:p>
            <a:pPr algn="l" marL="523144" indent="-261572" lvl="1">
              <a:lnSpc>
                <a:spcPts val="3392"/>
              </a:lnSpc>
              <a:buFont typeface="Arial"/>
              <a:buChar char="•"/>
            </a:pPr>
            <a:r>
              <a:rPr lang="en-US" sz="2423">
                <a:solidFill>
                  <a:srgbClr val="2D2261"/>
                </a:solidFill>
                <a:latin typeface="Red Hat Display"/>
                <a:ea typeface="Red Hat Display"/>
                <a:cs typeface="Red Hat Display"/>
                <a:sym typeface="Red Hat Display"/>
              </a:rPr>
              <a:t>Tính mùa vụ: Doanh thu tăng vọt từ tháng 9 và đạt đỉnh vào tháng 11/2011 (£1.112.575) do nhu cầu mua sắm Giáng sinh &amp; cuối năm.</a:t>
            </a:r>
          </a:p>
          <a:p>
            <a:pPr algn="l" marL="523144" indent="-261572" lvl="1">
              <a:lnSpc>
                <a:spcPts val="3392"/>
              </a:lnSpc>
              <a:buFont typeface="Arial"/>
              <a:buChar char="•"/>
            </a:pPr>
            <a:r>
              <a:rPr lang="en-US" sz="2423">
                <a:solidFill>
                  <a:srgbClr val="2D2261"/>
                </a:solidFill>
                <a:latin typeface="Red Hat Display"/>
                <a:ea typeface="Red Hat Display"/>
                <a:cs typeface="Red Hat Display"/>
                <a:sym typeface="Red Hat Display"/>
              </a:rPr>
              <a:t>Hàn</a:t>
            </a:r>
            <a:r>
              <a:rPr lang="en-US" sz="2423">
                <a:solidFill>
                  <a:srgbClr val="2D2261"/>
                </a:solidFill>
                <a:latin typeface="Red Hat Display"/>
                <a:ea typeface="Red Hat Display"/>
                <a:cs typeface="Red Hat Display"/>
                <a:sym typeface="Red Hat Display"/>
              </a:rPr>
              <a:t>h vi mua sắm: Khung giờ mua sắm cao điểm là 11h – 13h trưa; Thứ 5 có số đơn hàng cao nhất; Thứ 7 hoàn toàn không có giao dịch (cửa hàng</a:t>
            </a:r>
            <a:r>
              <a:rPr lang="en-US" sz="2423">
                <a:solidFill>
                  <a:srgbClr val="2D2261"/>
                </a:solidFill>
                <a:latin typeface="Red Hat Display"/>
                <a:ea typeface="Red Hat Display"/>
                <a:cs typeface="Red Hat Display"/>
                <a:sym typeface="Red Hat Display"/>
              </a:rPr>
              <a:t> bán sỉ nghỉ cuối tuần)</a:t>
            </a:r>
          </a:p>
        </p:txBody>
      </p:sp>
      <p:sp>
        <p:nvSpPr>
          <p:cNvPr name="Freeform 10" id="10"/>
          <p:cNvSpPr/>
          <p:nvPr/>
        </p:nvSpPr>
        <p:spPr>
          <a:xfrm flipH="false" flipV="false" rot="-2080684">
            <a:off x="10052870" y="8826186"/>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9426524">
            <a:off x="-4013867" y="-4180951"/>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2624874">
            <a:off x="-914155" y="9662090"/>
            <a:ext cx="3242701" cy="1827704"/>
          </a:xfrm>
          <a:custGeom>
            <a:avLst/>
            <a:gdLst/>
            <a:ahLst/>
            <a:cxnLst/>
            <a:rect r="r" b="b" t="t" l="l"/>
            <a:pathLst>
              <a:path h="1827704" w="3242701">
                <a:moveTo>
                  <a:pt x="0" y="0"/>
                </a:moveTo>
                <a:lnTo>
                  <a:pt x="3242702" y="0"/>
                </a:lnTo>
                <a:lnTo>
                  <a:pt x="3242702"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2830696">
            <a:off x="16045978" y="-444565"/>
            <a:ext cx="2835471" cy="4114800"/>
          </a:xfrm>
          <a:custGeom>
            <a:avLst/>
            <a:gdLst/>
            <a:ahLst/>
            <a:cxnLst/>
            <a:rect r="r" b="b" t="t" l="l"/>
            <a:pathLst>
              <a:path h="4114800" w="2835471">
                <a:moveTo>
                  <a:pt x="0" y="0"/>
                </a:moveTo>
                <a:lnTo>
                  <a:pt x="2835472" y="0"/>
                </a:lnTo>
                <a:lnTo>
                  <a:pt x="283547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999493" y="5813759"/>
            <a:ext cx="9476450" cy="2894759"/>
          </a:xfrm>
          <a:custGeom>
            <a:avLst/>
            <a:gdLst/>
            <a:ahLst/>
            <a:cxnLst/>
            <a:rect r="r" b="b" t="t" l="l"/>
            <a:pathLst>
              <a:path h="2894759" w="9476450">
                <a:moveTo>
                  <a:pt x="0" y="0"/>
                </a:moveTo>
                <a:lnTo>
                  <a:pt x="9476450" y="0"/>
                </a:lnTo>
                <a:lnTo>
                  <a:pt x="9476450" y="2894760"/>
                </a:lnTo>
                <a:lnTo>
                  <a:pt x="0" y="2894760"/>
                </a:lnTo>
                <a:lnTo>
                  <a:pt x="0" y="0"/>
                </a:lnTo>
                <a:close/>
              </a:path>
            </a:pathLst>
          </a:custGeom>
          <a:blipFill>
            <a:blip r:embed="rId10"/>
            <a:stretch>
              <a:fillRect l="0" t="0" r="0" b="0"/>
            </a:stretch>
          </a:blipFill>
        </p:spPr>
      </p:sp>
      <p:sp>
        <p:nvSpPr>
          <p:cNvPr name="Freeform 15" id="15"/>
          <p:cNvSpPr/>
          <p:nvPr/>
        </p:nvSpPr>
        <p:spPr>
          <a:xfrm flipH="false" flipV="false" rot="0">
            <a:off x="10475943" y="6184835"/>
            <a:ext cx="7022423" cy="2523683"/>
          </a:xfrm>
          <a:custGeom>
            <a:avLst/>
            <a:gdLst/>
            <a:ahLst/>
            <a:cxnLst/>
            <a:rect r="r" b="b" t="t" l="l"/>
            <a:pathLst>
              <a:path h="2523683" w="7022423">
                <a:moveTo>
                  <a:pt x="0" y="0"/>
                </a:moveTo>
                <a:lnTo>
                  <a:pt x="7022423" y="0"/>
                </a:lnTo>
                <a:lnTo>
                  <a:pt x="7022423" y="2523684"/>
                </a:lnTo>
                <a:lnTo>
                  <a:pt x="0" y="2523684"/>
                </a:lnTo>
                <a:lnTo>
                  <a:pt x="0" y="0"/>
                </a:lnTo>
                <a:close/>
              </a:path>
            </a:pathLst>
          </a:custGeom>
          <a:blipFill>
            <a:blip r:embed="rId11"/>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grpSp>
        <p:nvGrpSpPr>
          <p:cNvPr name="Group 2" id="2"/>
          <p:cNvGrpSpPr/>
          <p:nvPr/>
        </p:nvGrpSpPr>
        <p:grpSpPr>
          <a:xfrm rot="0">
            <a:off x="2845482" y="2478584"/>
            <a:ext cx="13052549" cy="5585593"/>
            <a:chOff x="0" y="0"/>
            <a:chExt cx="3546826" cy="1517798"/>
          </a:xfrm>
        </p:grpSpPr>
        <p:sp>
          <p:nvSpPr>
            <p:cNvPr name="Freeform 3" id="3"/>
            <p:cNvSpPr/>
            <p:nvPr/>
          </p:nvSpPr>
          <p:spPr>
            <a:xfrm flipH="false" flipV="false" rot="0">
              <a:off x="0" y="0"/>
              <a:ext cx="3546826" cy="1517798"/>
            </a:xfrm>
            <a:custGeom>
              <a:avLst/>
              <a:gdLst/>
              <a:ahLst/>
              <a:cxnLst/>
              <a:rect r="r" b="b" t="t" l="l"/>
              <a:pathLst>
                <a:path h="1517798" w="3546826">
                  <a:moveTo>
                    <a:pt x="17794" y="0"/>
                  </a:moveTo>
                  <a:lnTo>
                    <a:pt x="3529032" y="0"/>
                  </a:lnTo>
                  <a:cubicBezTo>
                    <a:pt x="3533751" y="0"/>
                    <a:pt x="3538277" y="1875"/>
                    <a:pt x="3541614" y="5212"/>
                  </a:cubicBezTo>
                  <a:cubicBezTo>
                    <a:pt x="3544951" y="8549"/>
                    <a:pt x="3546826" y="13075"/>
                    <a:pt x="3546826" y="17794"/>
                  </a:cubicBezTo>
                  <a:lnTo>
                    <a:pt x="3546826" y="1500003"/>
                  </a:lnTo>
                  <a:cubicBezTo>
                    <a:pt x="3546826" y="1509831"/>
                    <a:pt x="3538860" y="1517798"/>
                    <a:pt x="3529032" y="1517798"/>
                  </a:cubicBezTo>
                  <a:lnTo>
                    <a:pt x="17794" y="1517798"/>
                  </a:lnTo>
                  <a:cubicBezTo>
                    <a:pt x="7967" y="1517798"/>
                    <a:pt x="0" y="1509831"/>
                    <a:pt x="0" y="1500003"/>
                  </a:cubicBezTo>
                  <a:lnTo>
                    <a:pt x="0" y="17794"/>
                  </a:lnTo>
                  <a:cubicBezTo>
                    <a:pt x="0" y="7967"/>
                    <a:pt x="7967" y="0"/>
                    <a:pt x="17794" y="0"/>
                  </a:cubicBezTo>
                  <a:close/>
                </a:path>
              </a:pathLst>
            </a:custGeom>
            <a:solidFill>
              <a:srgbClr val="ECE1D7"/>
            </a:solidFill>
          </p:spPr>
        </p:sp>
        <p:sp>
          <p:nvSpPr>
            <p:cNvPr name="TextBox 4" id="4"/>
            <p:cNvSpPr txBox="true"/>
            <p:nvPr/>
          </p:nvSpPr>
          <p:spPr>
            <a:xfrm>
              <a:off x="0" y="-47625"/>
              <a:ext cx="3546826" cy="1565423"/>
            </a:xfrm>
            <a:prstGeom prst="rect">
              <a:avLst/>
            </a:prstGeom>
          </p:spPr>
          <p:txBody>
            <a:bodyPr anchor="ctr" rtlCol="false" tIns="50800" lIns="50800" bIns="50800" rIns="50800"/>
            <a:lstStyle/>
            <a:p>
              <a:pPr algn="ctr">
                <a:lnSpc>
                  <a:spcPts val="3032"/>
                </a:lnSpc>
              </a:pPr>
            </a:p>
          </p:txBody>
        </p:sp>
      </p:grpSp>
      <p:grpSp>
        <p:nvGrpSpPr>
          <p:cNvPr name="Group 5" id="5"/>
          <p:cNvGrpSpPr/>
          <p:nvPr/>
        </p:nvGrpSpPr>
        <p:grpSpPr>
          <a:xfrm rot="0">
            <a:off x="2845482" y="1659838"/>
            <a:ext cx="13052549" cy="2443272"/>
            <a:chOff x="0" y="0"/>
            <a:chExt cx="3546826" cy="663921"/>
          </a:xfrm>
        </p:grpSpPr>
        <p:sp>
          <p:nvSpPr>
            <p:cNvPr name="Freeform 6" id="6"/>
            <p:cNvSpPr/>
            <p:nvPr/>
          </p:nvSpPr>
          <p:spPr>
            <a:xfrm flipH="false" flipV="false" rot="0">
              <a:off x="0" y="0"/>
              <a:ext cx="3546826" cy="663921"/>
            </a:xfrm>
            <a:custGeom>
              <a:avLst/>
              <a:gdLst/>
              <a:ahLst/>
              <a:cxnLst/>
              <a:rect r="r" b="b" t="t" l="l"/>
              <a:pathLst>
                <a:path h="663921" w="3546826">
                  <a:moveTo>
                    <a:pt x="17794" y="0"/>
                  </a:moveTo>
                  <a:lnTo>
                    <a:pt x="3529032" y="0"/>
                  </a:lnTo>
                  <a:cubicBezTo>
                    <a:pt x="3533751" y="0"/>
                    <a:pt x="3538277" y="1875"/>
                    <a:pt x="3541614" y="5212"/>
                  </a:cubicBezTo>
                  <a:cubicBezTo>
                    <a:pt x="3544951" y="8549"/>
                    <a:pt x="3546826" y="13075"/>
                    <a:pt x="3546826" y="17794"/>
                  </a:cubicBezTo>
                  <a:lnTo>
                    <a:pt x="3546826" y="646127"/>
                  </a:lnTo>
                  <a:cubicBezTo>
                    <a:pt x="3546826" y="655954"/>
                    <a:pt x="3538860" y="663921"/>
                    <a:pt x="3529032" y="663921"/>
                  </a:cubicBezTo>
                  <a:lnTo>
                    <a:pt x="17794" y="663921"/>
                  </a:lnTo>
                  <a:cubicBezTo>
                    <a:pt x="7967" y="663921"/>
                    <a:pt x="0" y="655954"/>
                    <a:pt x="0" y="646127"/>
                  </a:cubicBezTo>
                  <a:lnTo>
                    <a:pt x="0" y="17794"/>
                  </a:lnTo>
                  <a:cubicBezTo>
                    <a:pt x="0" y="7967"/>
                    <a:pt x="7967" y="0"/>
                    <a:pt x="17794" y="0"/>
                  </a:cubicBezTo>
                  <a:close/>
                </a:path>
              </a:pathLst>
            </a:custGeom>
            <a:solidFill>
              <a:srgbClr val="5B7ABE"/>
            </a:solidFill>
          </p:spPr>
        </p:sp>
        <p:sp>
          <p:nvSpPr>
            <p:cNvPr name="TextBox 7" id="7"/>
            <p:cNvSpPr txBox="true"/>
            <p:nvPr/>
          </p:nvSpPr>
          <p:spPr>
            <a:xfrm>
              <a:off x="0" y="-47625"/>
              <a:ext cx="3546826" cy="711546"/>
            </a:xfrm>
            <a:prstGeom prst="rect">
              <a:avLst/>
            </a:prstGeom>
          </p:spPr>
          <p:txBody>
            <a:bodyPr anchor="ctr" rtlCol="false" tIns="50800" lIns="50800" bIns="50800" rIns="50800"/>
            <a:lstStyle/>
            <a:p>
              <a:pPr algn="ctr">
                <a:lnSpc>
                  <a:spcPts val="3032"/>
                </a:lnSpc>
              </a:pPr>
            </a:p>
          </p:txBody>
        </p:sp>
      </p:grpSp>
      <p:sp>
        <p:nvSpPr>
          <p:cNvPr name="TextBox 8" id="8"/>
          <p:cNvSpPr txBox="true"/>
          <p:nvPr/>
        </p:nvSpPr>
        <p:spPr>
          <a:xfrm rot="0">
            <a:off x="2146412" y="2512928"/>
            <a:ext cx="13995176" cy="660891"/>
          </a:xfrm>
          <a:prstGeom prst="rect">
            <a:avLst/>
          </a:prstGeom>
        </p:spPr>
        <p:txBody>
          <a:bodyPr anchor="t" rtlCol="false" tIns="0" lIns="0" bIns="0" rIns="0">
            <a:spAutoFit/>
          </a:bodyPr>
          <a:lstStyle/>
          <a:p>
            <a:pPr algn="ctr">
              <a:lnSpc>
                <a:spcPts val="5427"/>
              </a:lnSpc>
            </a:pPr>
            <a:r>
              <a:rPr lang="en-US" b="true" sz="3876">
                <a:solidFill>
                  <a:srgbClr val="FBFCFE"/>
                </a:solidFill>
                <a:latin typeface="Red Hat Display Bold"/>
                <a:ea typeface="Red Hat Display Bold"/>
                <a:cs typeface="Red Hat Display Bold"/>
                <a:sym typeface="Red Hat Display Bold"/>
              </a:rPr>
              <a:t>Quy luật Pareto (80/20) trong Khách hàng</a:t>
            </a:r>
          </a:p>
        </p:txBody>
      </p:sp>
      <p:sp>
        <p:nvSpPr>
          <p:cNvPr name="TextBox 9" id="9"/>
          <p:cNvSpPr txBox="true"/>
          <p:nvPr/>
        </p:nvSpPr>
        <p:spPr>
          <a:xfrm rot="0">
            <a:off x="3048678" y="4707412"/>
            <a:ext cx="12646157" cy="2454275"/>
          </a:xfrm>
          <a:prstGeom prst="rect">
            <a:avLst/>
          </a:prstGeom>
        </p:spPr>
        <p:txBody>
          <a:bodyPr anchor="t" rtlCol="false" tIns="0" lIns="0" bIns="0" rIns="0">
            <a:spAutoFit/>
          </a:bodyPr>
          <a:lstStyle/>
          <a:p>
            <a:pPr algn="l" marL="755649" indent="-377824" lvl="1">
              <a:lnSpc>
                <a:spcPts val="4899"/>
              </a:lnSpc>
              <a:buFont typeface="Arial"/>
              <a:buChar char="•"/>
            </a:pPr>
            <a:r>
              <a:rPr lang="en-US" sz="3499">
                <a:solidFill>
                  <a:srgbClr val="2D2261"/>
                </a:solidFill>
                <a:latin typeface="Red Hat Display"/>
                <a:ea typeface="Red Hat Display"/>
                <a:cs typeface="Red Hat Display"/>
                <a:sym typeface="Red Hat Display"/>
              </a:rPr>
              <a:t>Phân tích đường cong Pareto chỉ ra: Top 20% khách hàng chi tiêu nhiều nhất đóng góp tới 73,4% tổng doanh thu.</a:t>
            </a:r>
          </a:p>
          <a:p>
            <a:pPr algn="l" marL="755649" indent="-377824" lvl="1">
              <a:lnSpc>
                <a:spcPts val="4899"/>
              </a:lnSpc>
              <a:buFont typeface="Arial"/>
              <a:buChar char="•"/>
            </a:pPr>
            <a:r>
              <a:rPr lang="en-US" sz="3499">
                <a:solidFill>
                  <a:srgbClr val="2D2261"/>
                </a:solidFill>
                <a:latin typeface="Red Hat Display"/>
                <a:ea typeface="Red Hat Display"/>
                <a:cs typeface="Red Hat Display"/>
                <a:sym typeface="Red Hat Display"/>
              </a:rPr>
              <a:t>Tỷ lệ khách hàng chỉ mua duy nhất 1 lần lên tới 34,9%, đặt ra bài toán cần có chính sách chăm sóc và</a:t>
            </a:r>
            <a:r>
              <a:rPr lang="en-US" sz="3499">
                <a:solidFill>
                  <a:srgbClr val="2D2261"/>
                </a:solidFill>
                <a:latin typeface="Red Hat Display"/>
                <a:ea typeface="Red Hat Display"/>
                <a:cs typeface="Red Hat Display"/>
                <a:sym typeface="Red Hat Display"/>
              </a:rPr>
              <a:t> kích cầu quay lại.</a:t>
            </a:r>
          </a:p>
        </p:txBody>
      </p:sp>
      <p:sp>
        <p:nvSpPr>
          <p:cNvPr name="Freeform 10" id="10"/>
          <p:cNvSpPr/>
          <p:nvPr/>
        </p:nvSpPr>
        <p:spPr>
          <a:xfrm flipH="false" flipV="false" rot="-2080684">
            <a:off x="10052870" y="8826186"/>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9426524">
            <a:off x="-4013867" y="-4180951"/>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2624874">
            <a:off x="-914155" y="9662090"/>
            <a:ext cx="3242701" cy="1827704"/>
          </a:xfrm>
          <a:custGeom>
            <a:avLst/>
            <a:gdLst/>
            <a:ahLst/>
            <a:cxnLst/>
            <a:rect r="r" b="b" t="t" l="l"/>
            <a:pathLst>
              <a:path h="1827704" w="3242701">
                <a:moveTo>
                  <a:pt x="0" y="0"/>
                </a:moveTo>
                <a:lnTo>
                  <a:pt x="3242702" y="0"/>
                </a:lnTo>
                <a:lnTo>
                  <a:pt x="3242702"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2830696">
            <a:off x="16045978" y="-444565"/>
            <a:ext cx="2835471" cy="4114800"/>
          </a:xfrm>
          <a:custGeom>
            <a:avLst/>
            <a:gdLst/>
            <a:ahLst/>
            <a:cxnLst/>
            <a:rect r="r" b="b" t="t" l="l"/>
            <a:pathLst>
              <a:path h="4114800" w="2835471">
                <a:moveTo>
                  <a:pt x="0" y="0"/>
                </a:moveTo>
                <a:lnTo>
                  <a:pt x="2835472" y="0"/>
                </a:lnTo>
                <a:lnTo>
                  <a:pt x="283547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763119" y="-118937"/>
            <a:ext cx="14443049" cy="9847533"/>
          </a:xfrm>
          <a:custGeom>
            <a:avLst/>
            <a:gdLst/>
            <a:ahLst/>
            <a:cxnLst/>
            <a:rect r="r" b="b" t="t" l="l"/>
            <a:pathLst>
              <a:path h="9847533" w="14443049">
                <a:moveTo>
                  <a:pt x="0" y="0"/>
                </a:moveTo>
                <a:lnTo>
                  <a:pt x="14443049" y="0"/>
                </a:lnTo>
                <a:lnTo>
                  <a:pt x="14443049" y="9847533"/>
                </a:lnTo>
                <a:lnTo>
                  <a:pt x="0" y="9847533"/>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5325">
            <a:off x="-2416794" y="9109562"/>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6878">
            <a:off x="-1358911" y="-260940"/>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830696">
            <a:off x="15119574" y="72009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3590539" y="3149021"/>
            <a:ext cx="11531926" cy="4446745"/>
          </a:xfrm>
          <a:prstGeom prst="rect">
            <a:avLst/>
          </a:prstGeom>
        </p:spPr>
        <p:txBody>
          <a:bodyPr anchor="t" rtlCol="false" tIns="0" lIns="0" bIns="0" rIns="0">
            <a:spAutoFit/>
          </a:bodyPr>
          <a:lstStyle/>
          <a:p>
            <a:pPr algn="ctr">
              <a:lnSpc>
                <a:spcPts val="8800"/>
              </a:lnSpc>
            </a:pPr>
            <a:r>
              <a:rPr lang="en-US" sz="7074" b="true">
                <a:solidFill>
                  <a:srgbClr val="2D2261"/>
                </a:solidFill>
                <a:latin typeface="Red Hat Display Bold"/>
                <a:ea typeface="Red Hat Display Bold"/>
                <a:cs typeface="Red Hat Display Bold"/>
                <a:sym typeface="Red Hat Display Bold"/>
              </a:rPr>
              <a:t>CHƯƠNG 6 </a:t>
            </a:r>
          </a:p>
          <a:p>
            <a:pPr algn="ctr">
              <a:lnSpc>
                <a:spcPts val="8800"/>
              </a:lnSpc>
            </a:pPr>
            <a:r>
              <a:rPr lang="en-US" b="true" sz="7074">
                <a:solidFill>
                  <a:srgbClr val="2D2261"/>
                </a:solidFill>
                <a:latin typeface="Red Hat Display Bold"/>
                <a:ea typeface="Red Hat Display Bold"/>
                <a:cs typeface="Red Hat Display Bold"/>
                <a:sym typeface="Red Hat Display Bold"/>
              </a:rPr>
              <a:t>PHÂN </a:t>
            </a:r>
            <a:r>
              <a:rPr lang="en-US" b="true" sz="7074">
                <a:solidFill>
                  <a:srgbClr val="2D2261"/>
                </a:solidFill>
                <a:latin typeface="Red Hat Display Bold"/>
                <a:ea typeface="Red Hat Display Bold"/>
                <a:cs typeface="Red Hat Display Bold"/>
                <a:sym typeface="Red Hat Display Bold"/>
              </a:rPr>
              <a:t>TÍCH ĐƠN / HAI BIẾN VỚI CÔNG CỤ AUTO</a:t>
            </a:r>
          </a:p>
          <a:p>
            <a:pPr algn="ctr">
              <a:lnSpc>
                <a:spcPts val="8800"/>
              </a:lnSpc>
            </a:pPr>
            <a:r>
              <a:rPr lang="en-US" b="true" sz="7074">
                <a:solidFill>
                  <a:srgbClr val="2D2261"/>
                </a:solidFill>
                <a:latin typeface="Red Hat Display Bold"/>
                <a:ea typeface="Red Hat Display Bold"/>
                <a:cs typeface="Red Hat Display Bold"/>
                <a:sym typeface="Red Hat Display Bold"/>
              </a:rPr>
              <a:t>-EDA</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6317" y="4140684"/>
            <a:ext cx="4899276" cy="3623338"/>
          </a:xfrm>
          <a:custGeom>
            <a:avLst/>
            <a:gdLst/>
            <a:ahLst/>
            <a:cxnLst/>
            <a:rect r="r" b="b" t="t" l="l"/>
            <a:pathLst>
              <a:path h="3623338" w="4899276">
                <a:moveTo>
                  <a:pt x="0" y="0"/>
                </a:moveTo>
                <a:lnTo>
                  <a:pt x="4899276" y="0"/>
                </a:lnTo>
                <a:lnTo>
                  <a:pt x="4899276" y="3623338"/>
                </a:lnTo>
                <a:lnTo>
                  <a:pt x="0" y="3623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175593" y="3897380"/>
            <a:ext cx="10522276" cy="4419092"/>
          </a:xfrm>
          <a:prstGeom prst="rect">
            <a:avLst/>
          </a:prstGeom>
        </p:spPr>
        <p:txBody>
          <a:bodyPr anchor="t" rtlCol="false" tIns="0" lIns="0" bIns="0" rIns="0">
            <a:spAutoFit/>
          </a:bodyPr>
          <a:lstStyle/>
          <a:p>
            <a:pPr algn="l" marL="755651" indent="-377825" lvl="1">
              <a:lnSpc>
                <a:spcPts val="4354"/>
              </a:lnSpc>
              <a:buFont typeface="Arial"/>
              <a:buChar char="•"/>
            </a:pPr>
            <a:r>
              <a:rPr lang="en-US" b="true" sz="3500">
                <a:solidFill>
                  <a:srgbClr val="2D2261"/>
                </a:solidFill>
                <a:latin typeface="Red Hat Display Bold"/>
                <a:ea typeface="Red Hat Display Bold"/>
                <a:cs typeface="Red Hat Display Bold"/>
                <a:sym typeface="Red Hat Display Bold"/>
              </a:rPr>
              <a:t>So sánh 4 công cụ: </a:t>
            </a:r>
            <a:r>
              <a:rPr lang="en-US" b="true" sz="3500">
                <a:solidFill>
                  <a:srgbClr val="2D2261"/>
                </a:solidFill>
                <a:latin typeface="Red Hat Display Bold"/>
                <a:ea typeface="Red Hat Display Bold"/>
                <a:cs typeface="Red Hat Display Bold"/>
                <a:sym typeface="Red Hat Display Bold"/>
              </a:rPr>
              <a:t>y</a:t>
            </a:r>
            <a:r>
              <a:rPr lang="en-US" b="true" sz="3500">
                <a:solidFill>
                  <a:srgbClr val="2D2261"/>
                </a:solidFill>
                <a:latin typeface="Red Hat Display Bold"/>
                <a:ea typeface="Red Hat Display Bold"/>
                <a:cs typeface="Red Hat Display Bold"/>
                <a:sym typeface="Red Hat Display Bold"/>
              </a:rPr>
              <a:t>data-profiling, D-Tale, SweetViz và AutoViz.</a:t>
            </a:r>
          </a:p>
          <a:p>
            <a:pPr algn="l">
              <a:lnSpc>
                <a:spcPts val="4354"/>
              </a:lnSpc>
            </a:pPr>
          </a:p>
          <a:p>
            <a:pPr algn="l" marL="755651" indent="-377825" lvl="1">
              <a:lnSpc>
                <a:spcPts val="4354"/>
              </a:lnSpc>
              <a:buFont typeface="Arial"/>
              <a:buChar char="•"/>
            </a:pPr>
            <a:r>
              <a:rPr lang="en-US" b="true" sz="3500">
                <a:solidFill>
                  <a:srgbClr val="2D2261"/>
                </a:solidFill>
                <a:latin typeface="Red Hat Display Bold"/>
                <a:ea typeface="Red Hat Display Bold"/>
                <a:cs typeface="Red Hat Display Bold"/>
                <a:sym typeface="Red Hat Display Bold"/>
              </a:rPr>
              <a:t>SweetViz xuất báo cáo HTML dạng Dashboard tương tác tốt; AutoViz tự động phân loại biến và sinh biểu đồ Matplotlib/Seaborn trực tiếp trong Notebook cell</a:t>
            </a:r>
          </a:p>
          <a:p>
            <a:pPr algn="l">
              <a:lnSpc>
                <a:spcPts val="4354"/>
              </a:lnSpc>
            </a:pPr>
          </a:p>
        </p:txBody>
      </p:sp>
      <p:sp>
        <p:nvSpPr>
          <p:cNvPr name="TextBox 4" id="4"/>
          <p:cNvSpPr txBox="true"/>
          <p:nvPr/>
        </p:nvSpPr>
        <p:spPr>
          <a:xfrm rot="0">
            <a:off x="767536" y="1578790"/>
            <a:ext cx="16752927" cy="1787320"/>
          </a:xfrm>
          <a:prstGeom prst="rect">
            <a:avLst/>
          </a:prstGeom>
        </p:spPr>
        <p:txBody>
          <a:bodyPr anchor="t" rtlCol="false" tIns="0" lIns="0" bIns="0" rIns="0">
            <a:spAutoFit/>
          </a:bodyPr>
          <a:lstStyle/>
          <a:p>
            <a:pPr algn="ctr">
              <a:lnSpc>
                <a:spcPts val="7113"/>
              </a:lnSpc>
            </a:pPr>
            <a:r>
              <a:rPr lang="en-US" b="true" sz="5718">
                <a:solidFill>
                  <a:srgbClr val="2D2261"/>
                </a:solidFill>
                <a:latin typeface="Red Hat Display Bold"/>
                <a:ea typeface="Red Hat Display Bold"/>
                <a:cs typeface="Red Hat Display Bold"/>
                <a:sym typeface="Red Hat Display Bold"/>
              </a:rPr>
              <a:t>Tổng quan &amp; So sánh các công cụ Auto-EDA</a:t>
            </a:r>
          </a:p>
          <a:p>
            <a:pPr algn="ctr">
              <a:lnSpc>
                <a:spcPts val="7113"/>
              </a:lnSpc>
            </a:pPr>
          </a:p>
        </p:txBody>
      </p:sp>
      <p:sp>
        <p:nvSpPr>
          <p:cNvPr name="Freeform 5" id="5"/>
          <p:cNvSpPr/>
          <p:nvPr/>
        </p:nvSpPr>
        <p:spPr>
          <a:xfrm flipH="false" flipV="false" rot="0">
            <a:off x="13606882" y="-2950693"/>
            <a:ext cx="6727323" cy="4586811"/>
          </a:xfrm>
          <a:custGeom>
            <a:avLst/>
            <a:gdLst/>
            <a:ahLst/>
            <a:cxnLst/>
            <a:rect r="r" b="b" t="t" l="l"/>
            <a:pathLst>
              <a:path h="4586811" w="6727323">
                <a:moveTo>
                  <a:pt x="0" y="0"/>
                </a:moveTo>
                <a:lnTo>
                  <a:pt x="6727323" y="0"/>
                </a:lnTo>
                <a:lnTo>
                  <a:pt x="6727323" y="4586811"/>
                </a:lnTo>
                <a:lnTo>
                  <a:pt x="0" y="4586811"/>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635325">
            <a:off x="-1442576" y="8071855"/>
            <a:ext cx="7907020" cy="6699403"/>
          </a:xfrm>
          <a:custGeom>
            <a:avLst/>
            <a:gdLst/>
            <a:ahLst/>
            <a:cxnLst/>
            <a:rect r="r" b="b" t="t" l="l"/>
            <a:pathLst>
              <a:path h="6699403" w="7907020">
                <a:moveTo>
                  <a:pt x="0" y="0"/>
                </a:moveTo>
                <a:lnTo>
                  <a:pt x="7907020" y="0"/>
                </a:lnTo>
                <a:lnTo>
                  <a:pt x="7907020" y="6699403"/>
                </a:lnTo>
                <a:lnTo>
                  <a:pt x="0" y="6699403"/>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226878">
            <a:off x="-1910721" y="-1091249"/>
            <a:ext cx="4576141" cy="2579280"/>
          </a:xfrm>
          <a:custGeom>
            <a:avLst/>
            <a:gdLst/>
            <a:ahLst/>
            <a:cxnLst/>
            <a:rect r="r" b="b" t="t" l="l"/>
            <a:pathLst>
              <a:path h="2579280" w="4576141">
                <a:moveTo>
                  <a:pt x="0" y="0"/>
                </a:moveTo>
                <a:lnTo>
                  <a:pt x="4576142" y="0"/>
                </a:lnTo>
                <a:lnTo>
                  <a:pt x="4576142"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2830696">
            <a:off x="14939466" y="814494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557531"/>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5346754"/>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63934" y="7137899"/>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204736" y="3733567"/>
            <a:ext cx="1029499" cy="102949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8" id="8"/>
          <p:cNvGrpSpPr/>
          <p:nvPr/>
        </p:nvGrpSpPr>
        <p:grpSpPr>
          <a:xfrm rot="0">
            <a:off x="1204736" y="5522789"/>
            <a:ext cx="1029499" cy="102949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11" id="11"/>
          <p:cNvGrpSpPr/>
          <p:nvPr/>
        </p:nvGrpSpPr>
        <p:grpSpPr>
          <a:xfrm rot="0">
            <a:off x="1239969" y="7313935"/>
            <a:ext cx="1029499" cy="10294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14" id="14"/>
          <p:cNvSpPr txBox="true"/>
          <p:nvPr/>
        </p:nvSpPr>
        <p:spPr>
          <a:xfrm rot="0">
            <a:off x="3300568" y="1102798"/>
            <a:ext cx="11686865" cy="1873123"/>
          </a:xfrm>
          <a:prstGeom prst="rect">
            <a:avLst/>
          </a:prstGeom>
        </p:spPr>
        <p:txBody>
          <a:bodyPr anchor="t" rtlCol="false" tIns="0" lIns="0" bIns="0" rIns="0">
            <a:spAutoFit/>
          </a:bodyPr>
          <a:lstStyle/>
          <a:p>
            <a:pPr algn="ctr">
              <a:lnSpc>
                <a:spcPts val="4975"/>
              </a:lnSpc>
            </a:pPr>
            <a:r>
              <a:rPr lang="en-US" sz="3999" b="true">
                <a:solidFill>
                  <a:srgbClr val="2D2261"/>
                </a:solidFill>
                <a:latin typeface="Red Hat Display Bold"/>
                <a:ea typeface="Red Hat Display Bold"/>
                <a:cs typeface="Red Hat Display Bold"/>
                <a:sym typeface="Red Hat Display Bold"/>
              </a:rPr>
              <a:t>Ứng dụng SweetViz trên dữ liệu Marketing Campaign (2.240 mẫu):</a:t>
            </a:r>
          </a:p>
          <a:p>
            <a:pPr algn="l">
              <a:lnSpc>
                <a:spcPts val="4975"/>
              </a:lnSpc>
            </a:pPr>
          </a:p>
        </p:txBody>
      </p:sp>
      <p:sp>
        <p:nvSpPr>
          <p:cNvPr name="Freeform 15" id="15"/>
          <p:cNvSpPr/>
          <p:nvPr/>
        </p:nvSpPr>
        <p:spPr>
          <a:xfrm flipH="false" flipV="false" rot="0">
            <a:off x="14512292" y="-2293406"/>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226878">
            <a:off x="-1355642" y="-351830"/>
            <a:ext cx="4576141" cy="2579280"/>
          </a:xfrm>
          <a:custGeom>
            <a:avLst/>
            <a:gdLst/>
            <a:ahLst/>
            <a:cxnLst/>
            <a:rect r="r" b="b" t="t" l="l"/>
            <a:pathLst>
              <a:path h="2579280" w="4576141">
                <a:moveTo>
                  <a:pt x="0" y="0"/>
                </a:moveTo>
                <a:lnTo>
                  <a:pt x="4576141" y="0"/>
                </a:lnTo>
                <a:lnTo>
                  <a:pt x="4576141" y="2579279"/>
                </a:lnTo>
                <a:lnTo>
                  <a:pt x="0" y="2579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0363860" y="2501967"/>
            <a:ext cx="7038507" cy="7071143"/>
          </a:xfrm>
          <a:custGeom>
            <a:avLst/>
            <a:gdLst/>
            <a:ahLst/>
            <a:cxnLst/>
            <a:rect r="r" b="b" t="t" l="l"/>
            <a:pathLst>
              <a:path h="7071143" w="7038507">
                <a:moveTo>
                  <a:pt x="0" y="0"/>
                </a:moveTo>
                <a:lnTo>
                  <a:pt x="7038508" y="0"/>
                </a:lnTo>
                <a:lnTo>
                  <a:pt x="7038508" y="7071143"/>
                </a:lnTo>
                <a:lnTo>
                  <a:pt x="0" y="7071143"/>
                </a:lnTo>
                <a:lnTo>
                  <a:pt x="0" y="0"/>
                </a:lnTo>
                <a:close/>
              </a:path>
            </a:pathLst>
          </a:custGeom>
          <a:blipFill>
            <a:blip r:embed="rId8"/>
            <a:stretch>
              <a:fillRect l="0" t="0" r="0" b="0"/>
            </a:stretch>
          </a:blipFill>
        </p:spPr>
      </p:sp>
      <p:sp>
        <p:nvSpPr>
          <p:cNvPr name="TextBox 18" id="18"/>
          <p:cNvSpPr txBox="true"/>
          <p:nvPr/>
        </p:nvSpPr>
        <p:spPr>
          <a:xfrm rot="0">
            <a:off x="2510934" y="3385186"/>
            <a:ext cx="7484772" cy="1567180"/>
          </a:xfrm>
          <a:prstGeom prst="rect">
            <a:avLst/>
          </a:prstGeom>
        </p:spPr>
        <p:txBody>
          <a:bodyPr anchor="t" rtlCol="false" tIns="0" lIns="0" bIns="0" rIns="0">
            <a:spAutoFit/>
          </a:bodyPr>
          <a:lstStyle/>
          <a:p>
            <a:pPr algn="l">
              <a:lnSpc>
                <a:spcPts val="3109"/>
              </a:lnSpc>
            </a:pPr>
            <a:r>
              <a:rPr lang="en-US" sz="2499">
                <a:solidFill>
                  <a:srgbClr val="2D2261"/>
                </a:solidFill>
                <a:latin typeface="Red Hat Display"/>
                <a:ea typeface="Red Hat Display"/>
                <a:cs typeface="Red Hat Display"/>
                <a:sym typeface="Red Hat Display"/>
              </a:rPr>
              <a:t>Target Analysis (sv.analyze): Khách hàng đồng ý chiến dịch (Response = 1) có thu nhập trung bình ~$69.000 (cao hơn nhiều so với mức ~$50.000 ở nhóm từ chối)</a:t>
            </a:r>
          </a:p>
        </p:txBody>
      </p:sp>
      <p:sp>
        <p:nvSpPr>
          <p:cNvPr name="TextBox 19" id="19"/>
          <p:cNvSpPr txBox="true"/>
          <p:nvPr/>
        </p:nvSpPr>
        <p:spPr>
          <a:xfrm rot="0">
            <a:off x="2510934" y="5381895"/>
            <a:ext cx="7748151" cy="1567180"/>
          </a:xfrm>
          <a:prstGeom prst="rect">
            <a:avLst/>
          </a:prstGeom>
        </p:spPr>
        <p:txBody>
          <a:bodyPr anchor="t" rtlCol="false" tIns="0" lIns="0" bIns="0" rIns="0">
            <a:spAutoFit/>
          </a:bodyPr>
          <a:lstStyle/>
          <a:p>
            <a:pPr algn="l">
              <a:lnSpc>
                <a:spcPts val="3109"/>
              </a:lnSpc>
            </a:pPr>
            <a:r>
              <a:rPr lang="en-US" sz="2499">
                <a:solidFill>
                  <a:srgbClr val="2D2261"/>
                </a:solidFill>
                <a:latin typeface="Red Hat Display"/>
                <a:ea typeface="Red Hat Display"/>
                <a:cs typeface="Red Hat Display"/>
                <a:sym typeface="Red Hat Display"/>
              </a:rPr>
              <a:t>So sánh phân khúc (sv.compare_intra): Khách hàng chưa có con (Non-Parent) có sức mua trung bình (Total_Mnt ~$950) cao gấp &gt;3 lần nhóm đã có con (Parent ~$280)</a:t>
            </a:r>
          </a:p>
        </p:txBody>
      </p:sp>
      <p:sp>
        <p:nvSpPr>
          <p:cNvPr name="TextBox 20" id="20"/>
          <p:cNvSpPr txBox="true"/>
          <p:nvPr/>
        </p:nvSpPr>
        <p:spPr>
          <a:xfrm rot="0">
            <a:off x="2510934" y="7294885"/>
            <a:ext cx="7748151" cy="1567180"/>
          </a:xfrm>
          <a:prstGeom prst="rect">
            <a:avLst/>
          </a:prstGeom>
        </p:spPr>
        <p:txBody>
          <a:bodyPr anchor="t" rtlCol="false" tIns="0" lIns="0" bIns="0" rIns="0">
            <a:spAutoFit/>
          </a:bodyPr>
          <a:lstStyle/>
          <a:p>
            <a:pPr algn="l">
              <a:lnSpc>
                <a:spcPts val="3109"/>
              </a:lnSpc>
            </a:pPr>
            <a:r>
              <a:rPr lang="en-US" sz="2499">
                <a:solidFill>
                  <a:srgbClr val="2D2261"/>
                </a:solidFill>
                <a:latin typeface="Red Hat Display"/>
                <a:ea typeface="Red Hat Display"/>
                <a:cs typeface="Red Hat Display"/>
                <a:sym typeface="Red Hat Display"/>
              </a:rPr>
              <a:t>Đánh giá Data Drift (sv.compare): So sánh tập Train (75%) và Test (25%) cho thấy biểu đồ mật độ trùng khít, tỷ lệ Response = 1 giữ nguyên 15%, đảm bảo không bị méo mó mẫu</a:t>
            </a:r>
          </a:p>
        </p:txBody>
      </p:sp>
      <p:sp>
        <p:nvSpPr>
          <p:cNvPr name="TextBox 21" id="21"/>
          <p:cNvSpPr txBox="true"/>
          <p:nvPr/>
        </p:nvSpPr>
        <p:spPr>
          <a:xfrm rot="0">
            <a:off x="1239572" y="3995320"/>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01</a:t>
            </a:r>
          </a:p>
        </p:txBody>
      </p:sp>
      <p:sp>
        <p:nvSpPr>
          <p:cNvPr name="TextBox 22" id="22"/>
          <p:cNvSpPr txBox="true"/>
          <p:nvPr/>
        </p:nvSpPr>
        <p:spPr>
          <a:xfrm rot="0">
            <a:off x="1239572" y="5784542"/>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02</a:t>
            </a:r>
          </a:p>
        </p:txBody>
      </p:sp>
      <p:sp>
        <p:nvSpPr>
          <p:cNvPr name="TextBox 23" id="23"/>
          <p:cNvSpPr txBox="true"/>
          <p:nvPr/>
        </p:nvSpPr>
        <p:spPr>
          <a:xfrm rot="0">
            <a:off x="1274806" y="7575687"/>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03</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557531"/>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5346754"/>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63934" y="7137899"/>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204736" y="3733567"/>
            <a:ext cx="1029499" cy="102949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8" id="8"/>
          <p:cNvGrpSpPr/>
          <p:nvPr/>
        </p:nvGrpSpPr>
        <p:grpSpPr>
          <a:xfrm rot="0">
            <a:off x="1204736" y="5522789"/>
            <a:ext cx="1029499" cy="102949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11" id="11"/>
          <p:cNvGrpSpPr/>
          <p:nvPr/>
        </p:nvGrpSpPr>
        <p:grpSpPr>
          <a:xfrm rot="0">
            <a:off x="1239969" y="7313935"/>
            <a:ext cx="1029499" cy="10294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14" id="14"/>
          <p:cNvSpPr txBox="true"/>
          <p:nvPr/>
        </p:nvSpPr>
        <p:spPr>
          <a:xfrm rot="0">
            <a:off x="3300568" y="1102798"/>
            <a:ext cx="11686865" cy="1873123"/>
          </a:xfrm>
          <a:prstGeom prst="rect">
            <a:avLst/>
          </a:prstGeom>
        </p:spPr>
        <p:txBody>
          <a:bodyPr anchor="t" rtlCol="false" tIns="0" lIns="0" bIns="0" rIns="0">
            <a:spAutoFit/>
          </a:bodyPr>
          <a:lstStyle/>
          <a:p>
            <a:pPr algn="ctr">
              <a:lnSpc>
                <a:spcPts val="4975"/>
              </a:lnSpc>
            </a:pPr>
            <a:r>
              <a:rPr lang="en-US" sz="3999" b="true">
                <a:solidFill>
                  <a:srgbClr val="2D2261"/>
                </a:solidFill>
                <a:latin typeface="Red Hat Display Bold"/>
                <a:ea typeface="Red Hat Display Bold"/>
                <a:cs typeface="Red Hat Display Bold"/>
                <a:sym typeface="Red Hat Display Bold"/>
              </a:rPr>
              <a:t>Ứng dụng SweetViz trên dữ liệu Marketing Campaign (2.240 mẫu):</a:t>
            </a:r>
          </a:p>
          <a:p>
            <a:pPr algn="l">
              <a:lnSpc>
                <a:spcPts val="4975"/>
              </a:lnSpc>
            </a:pPr>
          </a:p>
        </p:txBody>
      </p:sp>
      <p:sp>
        <p:nvSpPr>
          <p:cNvPr name="Freeform 15" id="15"/>
          <p:cNvSpPr/>
          <p:nvPr/>
        </p:nvSpPr>
        <p:spPr>
          <a:xfrm flipH="false" flipV="false" rot="0">
            <a:off x="14512292" y="-2293406"/>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226878">
            <a:off x="-1355642" y="-351830"/>
            <a:ext cx="4576141" cy="2579280"/>
          </a:xfrm>
          <a:custGeom>
            <a:avLst/>
            <a:gdLst/>
            <a:ahLst/>
            <a:cxnLst/>
            <a:rect r="r" b="b" t="t" l="l"/>
            <a:pathLst>
              <a:path h="2579280" w="4576141">
                <a:moveTo>
                  <a:pt x="0" y="0"/>
                </a:moveTo>
                <a:lnTo>
                  <a:pt x="4576141" y="0"/>
                </a:lnTo>
                <a:lnTo>
                  <a:pt x="4576141" y="2579279"/>
                </a:lnTo>
                <a:lnTo>
                  <a:pt x="0" y="2579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0363860" y="2513303"/>
            <a:ext cx="7015432" cy="7048472"/>
          </a:xfrm>
          <a:custGeom>
            <a:avLst/>
            <a:gdLst/>
            <a:ahLst/>
            <a:cxnLst/>
            <a:rect r="r" b="b" t="t" l="l"/>
            <a:pathLst>
              <a:path h="7048472" w="7015432">
                <a:moveTo>
                  <a:pt x="0" y="0"/>
                </a:moveTo>
                <a:lnTo>
                  <a:pt x="7015433" y="0"/>
                </a:lnTo>
                <a:lnTo>
                  <a:pt x="7015433" y="7048472"/>
                </a:lnTo>
                <a:lnTo>
                  <a:pt x="0" y="7048472"/>
                </a:lnTo>
                <a:lnTo>
                  <a:pt x="0" y="0"/>
                </a:lnTo>
                <a:close/>
              </a:path>
            </a:pathLst>
          </a:custGeom>
          <a:blipFill>
            <a:blip r:embed="rId8"/>
            <a:stretch>
              <a:fillRect l="0" t="0" r="0" b="0"/>
            </a:stretch>
          </a:blipFill>
        </p:spPr>
      </p:sp>
      <p:sp>
        <p:nvSpPr>
          <p:cNvPr name="TextBox 18" id="18"/>
          <p:cNvSpPr txBox="true"/>
          <p:nvPr/>
        </p:nvSpPr>
        <p:spPr>
          <a:xfrm rot="0">
            <a:off x="2510934" y="3385186"/>
            <a:ext cx="7484772" cy="1567180"/>
          </a:xfrm>
          <a:prstGeom prst="rect">
            <a:avLst/>
          </a:prstGeom>
        </p:spPr>
        <p:txBody>
          <a:bodyPr anchor="t" rtlCol="false" tIns="0" lIns="0" bIns="0" rIns="0">
            <a:spAutoFit/>
          </a:bodyPr>
          <a:lstStyle/>
          <a:p>
            <a:pPr algn="l">
              <a:lnSpc>
                <a:spcPts val="3109"/>
              </a:lnSpc>
            </a:pPr>
            <a:r>
              <a:rPr lang="en-US" sz="2499">
                <a:solidFill>
                  <a:srgbClr val="2D2261"/>
                </a:solidFill>
                <a:latin typeface="Red Hat Display"/>
                <a:ea typeface="Red Hat Display"/>
                <a:cs typeface="Red Hat Display"/>
                <a:sym typeface="Red Hat Display"/>
              </a:rPr>
              <a:t>Target Analysis (sv.analyze): Khách hàng đồng ý chiến dịch (Response = 1) có thu nhập trung bình ~$69.000 (cao hơn nhiều so với mức ~$50.000 ở nhóm từ chối)</a:t>
            </a:r>
          </a:p>
        </p:txBody>
      </p:sp>
      <p:sp>
        <p:nvSpPr>
          <p:cNvPr name="TextBox 19" id="19"/>
          <p:cNvSpPr txBox="true"/>
          <p:nvPr/>
        </p:nvSpPr>
        <p:spPr>
          <a:xfrm rot="0">
            <a:off x="2510934" y="5381895"/>
            <a:ext cx="7748151" cy="1567180"/>
          </a:xfrm>
          <a:prstGeom prst="rect">
            <a:avLst/>
          </a:prstGeom>
        </p:spPr>
        <p:txBody>
          <a:bodyPr anchor="t" rtlCol="false" tIns="0" lIns="0" bIns="0" rIns="0">
            <a:spAutoFit/>
          </a:bodyPr>
          <a:lstStyle/>
          <a:p>
            <a:pPr algn="l">
              <a:lnSpc>
                <a:spcPts val="3109"/>
              </a:lnSpc>
            </a:pPr>
            <a:r>
              <a:rPr lang="en-US" sz="2499">
                <a:solidFill>
                  <a:srgbClr val="2D2261"/>
                </a:solidFill>
                <a:latin typeface="Red Hat Display"/>
                <a:ea typeface="Red Hat Display"/>
                <a:cs typeface="Red Hat Display"/>
                <a:sym typeface="Red Hat Display"/>
              </a:rPr>
              <a:t>So sánh phân khúc (sv.compare_intra): Khách hàng chưa có con (Non-Parent) có sức mua trung bình (Total_Mnt ~$950) cao gấp &gt;3 lần nhóm đã có con (Parent ~$280)</a:t>
            </a:r>
          </a:p>
        </p:txBody>
      </p:sp>
      <p:sp>
        <p:nvSpPr>
          <p:cNvPr name="TextBox 20" id="20"/>
          <p:cNvSpPr txBox="true"/>
          <p:nvPr/>
        </p:nvSpPr>
        <p:spPr>
          <a:xfrm rot="0">
            <a:off x="2510934" y="7294885"/>
            <a:ext cx="7748151" cy="1567180"/>
          </a:xfrm>
          <a:prstGeom prst="rect">
            <a:avLst/>
          </a:prstGeom>
        </p:spPr>
        <p:txBody>
          <a:bodyPr anchor="t" rtlCol="false" tIns="0" lIns="0" bIns="0" rIns="0">
            <a:spAutoFit/>
          </a:bodyPr>
          <a:lstStyle/>
          <a:p>
            <a:pPr algn="l">
              <a:lnSpc>
                <a:spcPts val="3109"/>
              </a:lnSpc>
            </a:pPr>
            <a:r>
              <a:rPr lang="en-US" sz="2499">
                <a:solidFill>
                  <a:srgbClr val="2D2261"/>
                </a:solidFill>
                <a:latin typeface="Red Hat Display"/>
                <a:ea typeface="Red Hat Display"/>
                <a:cs typeface="Red Hat Display"/>
                <a:sym typeface="Red Hat Display"/>
              </a:rPr>
              <a:t>Đánh giá Data Drift (sv.compare): So sánh tập Train (75%) và Test (25%) cho thấy biểu đồ mật độ trùng khít, tỷ lệ Response = 1 giữ nguyên 15%, đảm bảo không bị méo mó mẫu</a:t>
            </a:r>
          </a:p>
        </p:txBody>
      </p:sp>
      <p:sp>
        <p:nvSpPr>
          <p:cNvPr name="TextBox 21" id="21"/>
          <p:cNvSpPr txBox="true"/>
          <p:nvPr/>
        </p:nvSpPr>
        <p:spPr>
          <a:xfrm rot="0">
            <a:off x="1239572" y="3995320"/>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01</a:t>
            </a:r>
          </a:p>
        </p:txBody>
      </p:sp>
      <p:sp>
        <p:nvSpPr>
          <p:cNvPr name="TextBox 22" id="22"/>
          <p:cNvSpPr txBox="true"/>
          <p:nvPr/>
        </p:nvSpPr>
        <p:spPr>
          <a:xfrm rot="0">
            <a:off x="1239572" y="5784542"/>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02</a:t>
            </a:r>
          </a:p>
        </p:txBody>
      </p:sp>
      <p:sp>
        <p:nvSpPr>
          <p:cNvPr name="TextBox 23" id="23"/>
          <p:cNvSpPr txBox="true"/>
          <p:nvPr/>
        </p:nvSpPr>
        <p:spPr>
          <a:xfrm rot="0">
            <a:off x="1274806" y="7575687"/>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03</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557531"/>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5346754"/>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63934" y="7137899"/>
            <a:ext cx="1381570" cy="1381570"/>
          </a:xfrm>
          <a:custGeom>
            <a:avLst/>
            <a:gdLst/>
            <a:ahLst/>
            <a:cxnLst/>
            <a:rect r="r" b="b" t="t" l="l"/>
            <a:pathLst>
              <a:path h="1381570" w="1381570">
                <a:moveTo>
                  <a:pt x="0" y="0"/>
                </a:moveTo>
                <a:lnTo>
                  <a:pt x="1381570" y="0"/>
                </a:lnTo>
                <a:lnTo>
                  <a:pt x="1381570" y="1381570"/>
                </a:lnTo>
                <a:lnTo>
                  <a:pt x="0" y="1381570"/>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204736" y="3733567"/>
            <a:ext cx="1029499" cy="1029499"/>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8" id="8"/>
          <p:cNvGrpSpPr/>
          <p:nvPr/>
        </p:nvGrpSpPr>
        <p:grpSpPr>
          <a:xfrm rot="0">
            <a:off x="1204736" y="5522789"/>
            <a:ext cx="1029499" cy="102949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grpSp>
        <p:nvGrpSpPr>
          <p:cNvPr name="Group 11" id="11"/>
          <p:cNvGrpSpPr/>
          <p:nvPr/>
        </p:nvGrpSpPr>
        <p:grpSpPr>
          <a:xfrm rot="0">
            <a:off x="1239969" y="7313935"/>
            <a:ext cx="1029499" cy="1029499"/>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3032"/>
                </a:lnSpc>
              </a:pPr>
            </a:p>
          </p:txBody>
        </p:sp>
      </p:grpSp>
      <p:sp>
        <p:nvSpPr>
          <p:cNvPr name="TextBox 14" id="14"/>
          <p:cNvSpPr txBox="true"/>
          <p:nvPr/>
        </p:nvSpPr>
        <p:spPr>
          <a:xfrm rot="0">
            <a:off x="3300568" y="1102798"/>
            <a:ext cx="11686865" cy="1873123"/>
          </a:xfrm>
          <a:prstGeom prst="rect">
            <a:avLst/>
          </a:prstGeom>
        </p:spPr>
        <p:txBody>
          <a:bodyPr anchor="t" rtlCol="false" tIns="0" lIns="0" bIns="0" rIns="0">
            <a:spAutoFit/>
          </a:bodyPr>
          <a:lstStyle/>
          <a:p>
            <a:pPr algn="ctr">
              <a:lnSpc>
                <a:spcPts val="4975"/>
              </a:lnSpc>
            </a:pPr>
            <a:r>
              <a:rPr lang="en-US" sz="3999" b="true">
                <a:solidFill>
                  <a:srgbClr val="2D2261"/>
                </a:solidFill>
                <a:latin typeface="Red Hat Display Bold"/>
                <a:ea typeface="Red Hat Display Bold"/>
                <a:cs typeface="Red Hat Display Bold"/>
                <a:sym typeface="Red Hat Display Bold"/>
              </a:rPr>
              <a:t>Ứng dụng SweetViz trên dữ liệu Marketing Campaign (2.240 mẫu):</a:t>
            </a:r>
          </a:p>
          <a:p>
            <a:pPr algn="l">
              <a:lnSpc>
                <a:spcPts val="4975"/>
              </a:lnSpc>
            </a:pPr>
          </a:p>
        </p:txBody>
      </p:sp>
      <p:sp>
        <p:nvSpPr>
          <p:cNvPr name="Freeform 15" id="15"/>
          <p:cNvSpPr/>
          <p:nvPr/>
        </p:nvSpPr>
        <p:spPr>
          <a:xfrm flipH="false" flipV="false" rot="0">
            <a:off x="14512292" y="-2293406"/>
            <a:ext cx="6727323" cy="4586811"/>
          </a:xfrm>
          <a:custGeom>
            <a:avLst/>
            <a:gdLst/>
            <a:ahLst/>
            <a:cxnLst/>
            <a:rect r="r" b="b" t="t" l="l"/>
            <a:pathLst>
              <a:path h="4586811" w="6727323">
                <a:moveTo>
                  <a:pt x="0" y="0"/>
                </a:moveTo>
                <a:lnTo>
                  <a:pt x="6727323" y="0"/>
                </a:lnTo>
                <a:lnTo>
                  <a:pt x="6727323" y="4586812"/>
                </a:lnTo>
                <a:lnTo>
                  <a:pt x="0" y="4586812"/>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226878">
            <a:off x="-1355642" y="-351830"/>
            <a:ext cx="4576141" cy="2579280"/>
          </a:xfrm>
          <a:custGeom>
            <a:avLst/>
            <a:gdLst/>
            <a:ahLst/>
            <a:cxnLst/>
            <a:rect r="r" b="b" t="t" l="l"/>
            <a:pathLst>
              <a:path h="2579280" w="4576141">
                <a:moveTo>
                  <a:pt x="0" y="0"/>
                </a:moveTo>
                <a:lnTo>
                  <a:pt x="4576141" y="0"/>
                </a:lnTo>
                <a:lnTo>
                  <a:pt x="4576141" y="2579279"/>
                </a:lnTo>
                <a:lnTo>
                  <a:pt x="0" y="25792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0363860" y="2513303"/>
            <a:ext cx="7015432" cy="7048472"/>
          </a:xfrm>
          <a:custGeom>
            <a:avLst/>
            <a:gdLst/>
            <a:ahLst/>
            <a:cxnLst/>
            <a:rect r="r" b="b" t="t" l="l"/>
            <a:pathLst>
              <a:path h="7048472" w="7015432">
                <a:moveTo>
                  <a:pt x="0" y="0"/>
                </a:moveTo>
                <a:lnTo>
                  <a:pt x="7015433" y="0"/>
                </a:lnTo>
                <a:lnTo>
                  <a:pt x="7015433" y="7048472"/>
                </a:lnTo>
                <a:lnTo>
                  <a:pt x="0" y="7048472"/>
                </a:lnTo>
                <a:lnTo>
                  <a:pt x="0" y="0"/>
                </a:lnTo>
                <a:close/>
              </a:path>
            </a:pathLst>
          </a:custGeom>
          <a:blipFill>
            <a:blip r:embed="rId8"/>
            <a:stretch>
              <a:fillRect l="0" t="0" r="0" b="0"/>
            </a:stretch>
          </a:blipFill>
        </p:spPr>
      </p:sp>
      <p:sp>
        <p:nvSpPr>
          <p:cNvPr name="TextBox 18" id="18"/>
          <p:cNvSpPr txBox="true"/>
          <p:nvPr/>
        </p:nvSpPr>
        <p:spPr>
          <a:xfrm rot="0">
            <a:off x="2510934" y="3385186"/>
            <a:ext cx="7484772" cy="1567180"/>
          </a:xfrm>
          <a:prstGeom prst="rect">
            <a:avLst/>
          </a:prstGeom>
        </p:spPr>
        <p:txBody>
          <a:bodyPr anchor="t" rtlCol="false" tIns="0" lIns="0" bIns="0" rIns="0">
            <a:spAutoFit/>
          </a:bodyPr>
          <a:lstStyle/>
          <a:p>
            <a:pPr algn="l">
              <a:lnSpc>
                <a:spcPts val="3109"/>
              </a:lnSpc>
            </a:pPr>
            <a:r>
              <a:rPr lang="en-US" sz="2499">
                <a:solidFill>
                  <a:srgbClr val="2D2261"/>
                </a:solidFill>
                <a:latin typeface="Red Hat Display"/>
                <a:ea typeface="Red Hat Display"/>
                <a:cs typeface="Red Hat Display"/>
                <a:sym typeface="Red Hat Display"/>
              </a:rPr>
              <a:t>Target Analysis (sv.analyze): Khách hàng đồng ý chiến dịch (Response = 1) có thu nhập trung bình ~$69.000 (cao hơn nhiều so với mức ~$50.000 ở nhóm từ chối)</a:t>
            </a:r>
          </a:p>
        </p:txBody>
      </p:sp>
      <p:sp>
        <p:nvSpPr>
          <p:cNvPr name="TextBox 19" id="19"/>
          <p:cNvSpPr txBox="true"/>
          <p:nvPr/>
        </p:nvSpPr>
        <p:spPr>
          <a:xfrm rot="0">
            <a:off x="2510934" y="5381895"/>
            <a:ext cx="7748151" cy="1567180"/>
          </a:xfrm>
          <a:prstGeom prst="rect">
            <a:avLst/>
          </a:prstGeom>
        </p:spPr>
        <p:txBody>
          <a:bodyPr anchor="t" rtlCol="false" tIns="0" lIns="0" bIns="0" rIns="0">
            <a:spAutoFit/>
          </a:bodyPr>
          <a:lstStyle/>
          <a:p>
            <a:pPr algn="l">
              <a:lnSpc>
                <a:spcPts val="3109"/>
              </a:lnSpc>
            </a:pPr>
            <a:r>
              <a:rPr lang="en-US" sz="2499">
                <a:solidFill>
                  <a:srgbClr val="2D2261"/>
                </a:solidFill>
                <a:latin typeface="Red Hat Display"/>
                <a:ea typeface="Red Hat Display"/>
                <a:cs typeface="Red Hat Display"/>
                <a:sym typeface="Red Hat Display"/>
              </a:rPr>
              <a:t>So sánh phân khúc (sv.compare_intra): Khách hàng chưa có con (Non-Parent) có sức mua trung bình (Total_Mnt ~$950) cao gấp &gt;3 lần nhóm đã có con (Parent ~$280)</a:t>
            </a:r>
          </a:p>
        </p:txBody>
      </p:sp>
      <p:sp>
        <p:nvSpPr>
          <p:cNvPr name="TextBox 20" id="20"/>
          <p:cNvSpPr txBox="true"/>
          <p:nvPr/>
        </p:nvSpPr>
        <p:spPr>
          <a:xfrm rot="0">
            <a:off x="2510934" y="7294885"/>
            <a:ext cx="7748151" cy="1567180"/>
          </a:xfrm>
          <a:prstGeom prst="rect">
            <a:avLst/>
          </a:prstGeom>
        </p:spPr>
        <p:txBody>
          <a:bodyPr anchor="t" rtlCol="false" tIns="0" lIns="0" bIns="0" rIns="0">
            <a:spAutoFit/>
          </a:bodyPr>
          <a:lstStyle/>
          <a:p>
            <a:pPr algn="l">
              <a:lnSpc>
                <a:spcPts val="3109"/>
              </a:lnSpc>
            </a:pPr>
            <a:r>
              <a:rPr lang="en-US" sz="2499">
                <a:solidFill>
                  <a:srgbClr val="2D2261"/>
                </a:solidFill>
                <a:latin typeface="Red Hat Display"/>
                <a:ea typeface="Red Hat Display"/>
                <a:cs typeface="Red Hat Display"/>
                <a:sym typeface="Red Hat Display"/>
              </a:rPr>
              <a:t>Đánh giá Data Drift (sv.compare): So sánh tập Train (75%) và Test (25%) cho thấy biểu đồ mật độ trùng khít, tỷ lệ Response = 1 giữ nguyên 15%, đảm bảo không bị méo mó mẫu</a:t>
            </a:r>
          </a:p>
        </p:txBody>
      </p:sp>
      <p:sp>
        <p:nvSpPr>
          <p:cNvPr name="TextBox 21" id="21"/>
          <p:cNvSpPr txBox="true"/>
          <p:nvPr/>
        </p:nvSpPr>
        <p:spPr>
          <a:xfrm rot="0">
            <a:off x="1239572" y="3995320"/>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01</a:t>
            </a:r>
          </a:p>
        </p:txBody>
      </p:sp>
      <p:sp>
        <p:nvSpPr>
          <p:cNvPr name="TextBox 22" id="22"/>
          <p:cNvSpPr txBox="true"/>
          <p:nvPr/>
        </p:nvSpPr>
        <p:spPr>
          <a:xfrm rot="0">
            <a:off x="1239572" y="5784542"/>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02</a:t>
            </a:r>
          </a:p>
        </p:txBody>
      </p:sp>
      <p:sp>
        <p:nvSpPr>
          <p:cNvPr name="TextBox 23" id="23"/>
          <p:cNvSpPr txBox="true"/>
          <p:nvPr/>
        </p:nvSpPr>
        <p:spPr>
          <a:xfrm rot="0">
            <a:off x="1274806" y="7575687"/>
            <a:ext cx="959825" cy="496468"/>
          </a:xfrm>
          <a:prstGeom prst="rect">
            <a:avLst/>
          </a:prstGeom>
        </p:spPr>
        <p:txBody>
          <a:bodyPr anchor="t" rtlCol="false" tIns="0" lIns="0" bIns="0" rIns="0">
            <a:spAutoFit/>
          </a:bodyPr>
          <a:lstStyle/>
          <a:p>
            <a:pPr algn="ctr">
              <a:lnSpc>
                <a:spcPts val="3980"/>
              </a:lnSpc>
            </a:pPr>
            <a:r>
              <a:rPr lang="en-US" b="true" sz="3199">
                <a:solidFill>
                  <a:srgbClr val="2D2261"/>
                </a:solidFill>
                <a:latin typeface="Red Hat Display Bold"/>
                <a:ea typeface="Red Hat Display Bold"/>
                <a:cs typeface="Red Hat Display Bold"/>
                <a:sym typeface="Red Hat Display Bold"/>
              </a:rPr>
              <a:t>03</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831863" y="3064845"/>
            <a:ext cx="11360887" cy="728158"/>
          </a:xfrm>
          <a:prstGeom prst="rect">
            <a:avLst/>
          </a:prstGeom>
        </p:spPr>
        <p:txBody>
          <a:bodyPr anchor="t" rtlCol="false" tIns="0" lIns="0" bIns="0" rIns="0">
            <a:spAutoFit/>
          </a:bodyPr>
          <a:lstStyle/>
          <a:p>
            <a:pPr algn="ctr">
              <a:lnSpc>
                <a:spcPts val="6065"/>
              </a:lnSpc>
            </a:pPr>
            <a:r>
              <a:rPr lang="en-US" b="true" sz="4332">
                <a:solidFill>
                  <a:srgbClr val="2D2261"/>
                </a:solidFill>
                <a:latin typeface="Red Hat Display Bold"/>
                <a:ea typeface="Red Hat Display Bold"/>
                <a:cs typeface="Red Hat Display Bold"/>
                <a:sym typeface="Red Hat Display Bold"/>
              </a:rPr>
              <a:t>Ứng dụng AutoViz (AV.</a:t>
            </a:r>
            <a:r>
              <a:rPr lang="en-US" b="true" sz="4332">
                <a:solidFill>
                  <a:srgbClr val="2D2261"/>
                </a:solidFill>
                <a:latin typeface="Red Hat Display Bold"/>
                <a:ea typeface="Red Hat Display Bold"/>
                <a:cs typeface="Red Hat Display Bold"/>
                <a:sym typeface="Red Hat Display Bold"/>
              </a:rPr>
              <a:t>AutoViz):</a:t>
            </a:r>
          </a:p>
        </p:txBody>
      </p:sp>
      <p:grpSp>
        <p:nvGrpSpPr>
          <p:cNvPr name="Group 3" id="3"/>
          <p:cNvGrpSpPr/>
          <p:nvPr/>
        </p:nvGrpSpPr>
        <p:grpSpPr>
          <a:xfrm rot="0">
            <a:off x="2377302" y="3949509"/>
            <a:ext cx="13533397" cy="4589884"/>
            <a:chOff x="0" y="0"/>
            <a:chExt cx="3564351" cy="1208858"/>
          </a:xfrm>
        </p:grpSpPr>
        <p:sp>
          <p:nvSpPr>
            <p:cNvPr name="Freeform 4" id="4"/>
            <p:cNvSpPr/>
            <p:nvPr/>
          </p:nvSpPr>
          <p:spPr>
            <a:xfrm flipH="false" flipV="false" rot="0">
              <a:off x="0" y="0"/>
              <a:ext cx="3564351" cy="1208858"/>
            </a:xfrm>
            <a:custGeom>
              <a:avLst/>
              <a:gdLst/>
              <a:ahLst/>
              <a:cxnLst/>
              <a:rect r="r" b="b" t="t" l="l"/>
              <a:pathLst>
                <a:path h="1208858" w="3564351">
                  <a:moveTo>
                    <a:pt x="17162" y="0"/>
                  </a:moveTo>
                  <a:lnTo>
                    <a:pt x="3547190" y="0"/>
                  </a:lnTo>
                  <a:cubicBezTo>
                    <a:pt x="3556668" y="0"/>
                    <a:pt x="3564351" y="7684"/>
                    <a:pt x="3564351" y="17162"/>
                  </a:cubicBezTo>
                  <a:lnTo>
                    <a:pt x="3564351" y="1191697"/>
                  </a:lnTo>
                  <a:cubicBezTo>
                    <a:pt x="3564351" y="1201175"/>
                    <a:pt x="3556668" y="1208858"/>
                    <a:pt x="3547190" y="1208858"/>
                  </a:cubicBezTo>
                  <a:lnTo>
                    <a:pt x="17162" y="1208858"/>
                  </a:lnTo>
                  <a:cubicBezTo>
                    <a:pt x="12610" y="1208858"/>
                    <a:pt x="8245" y="1207050"/>
                    <a:pt x="5027" y="1203832"/>
                  </a:cubicBezTo>
                  <a:cubicBezTo>
                    <a:pt x="1808" y="1200613"/>
                    <a:pt x="0" y="1196248"/>
                    <a:pt x="0" y="1191697"/>
                  </a:cubicBezTo>
                  <a:lnTo>
                    <a:pt x="0" y="17162"/>
                  </a:lnTo>
                  <a:cubicBezTo>
                    <a:pt x="0" y="7684"/>
                    <a:pt x="7684" y="0"/>
                    <a:pt x="17162" y="0"/>
                  </a:cubicBezTo>
                  <a:close/>
                </a:path>
              </a:pathLst>
            </a:custGeom>
            <a:solidFill>
              <a:srgbClr val="ECE1D7"/>
            </a:solidFill>
          </p:spPr>
        </p:sp>
        <p:sp>
          <p:nvSpPr>
            <p:cNvPr name="TextBox 5" id="5"/>
            <p:cNvSpPr txBox="true"/>
            <p:nvPr/>
          </p:nvSpPr>
          <p:spPr>
            <a:xfrm>
              <a:off x="0" y="-47625"/>
              <a:ext cx="3564351" cy="1256483"/>
            </a:xfrm>
            <a:prstGeom prst="rect">
              <a:avLst/>
            </a:prstGeom>
          </p:spPr>
          <p:txBody>
            <a:bodyPr anchor="ctr" rtlCol="false" tIns="50800" lIns="50800" bIns="50800" rIns="50800"/>
            <a:lstStyle/>
            <a:p>
              <a:pPr algn="l" marL="431801" indent="-215900" lvl="1">
                <a:lnSpc>
                  <a:spcPts val="2800"/>
                </a:lnSpc>
                <a:buFont typeface="Arial"/>
                <a:buChar char="•"/>
              </a:pPr>
            </a:p>
          </p:txBody>
        </p:sp>
      </p:grpSp>
      <p:sp>
        <p:nvSpPr>
          <p:cNvPr name="TextBox 6" id="6"/>
          <p:cNvSpPr txBox="true"/>
          <p:nvPr/>
        </p:nvSpPr>
        <p:spPr>
          <a:xfrm rot="0">
            <a:off x="2551554" y="4358501"/>
            <a:ext cx="13184893" cy="37147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2D2261"/>
                </a:solidFill>
                <a:latin typeface="Roboto Slab"/>
                <a:ea typeface="Roboto Slab"/>
                <a:cs typeface="Roboto Slab"/>
                <a:sym typeface="Roboto Slab"/>
              </a:rPr>
              <a:t>Tự động sinh 5 nhóm biểu đồ (Pairwise Scatter, Distplot, Boxplot/Violin, Barplot, Correlation Heatmap)Giữ lại 385.929 dòng hợp lệ (71,2% dữ liệu ban đầu) với tổng doanh thu £8.911.407,90. </a:t>
            </a:r>
          </a:p>
          <a:p>
            <a:pPr algn="l" marL="647700" indent="-323850" lvl="1">
              <a:lnSpc>
                <a:spcPts val="4200"/>
              </a:lnSpc>
              <a:buFont typeface="Arial"/>
              <a:buChar char="•"/>
            </a:pPr>
            <a:r>
              <a:rPr lang="en-US" sz="3000">
                <a:solidFill>
                  <a:srgbClr val="2D2261"/>
                </a:solidFill>
                <a:latin typeface="Roboto Slab"/>
                <a:ea typeface="Roboto Slab"/>
                <a:cs typeface="Roboto Slab"/>
                <a:sym typeface="Roboto Slab"/>
              </a:rPr>
              <a:t>Kết quả khẳng định kênh đặt hàng qua Catalog (NumCatalogPurchases) có hệ số tương quan thuận cao nhất ($r = +0,22$) với khả năng phản hồi chiến dịch tiếp thị86more_horiz</a:t>
            </a:r>
          </a:p>
          <a:p>
            <a:pPr algn="l">
              <a:lnSpc>
                <a:spcPts val="4200"/>
              </a:lnSpc>
            </a:pPr>
          </a:p>
        </p:txBody>
      </p:sp>
      <p:sp>
        <p:nvSpPr>
          <p:cNvPr name="Freeform 7" id="7"/>
          <p:cNvSpPr/>
          <p:nvPr/>
        </p:nvSpPr>
        <p:spPr>
          <a:xfrm flipH="false" flipV="false" rot="-2080684">
            <a:off x="10899867" y="7597759"/>
            <a:ext cx="10960234" cy="7472887"/>
          </a:xfrm>
          <a:custGeom>
            <a:avLst/>
            <a:gdLst/>
            <a:ahLst/>
            <a:cxnLst/>
            <a:rect r="r" b="b" t="t" l="l"/>
            <a:pathLst>
              <a:path h="7472887" w="10960234">
                <a:moveTo>
                  <a:pt x="0" y="0"/>
                </a:moveTo>
                <a:lnTo>
                  <a:pt x="10960234" y="0"/>
                </a:lnTo>
                <a:lnTo>
                  <a:pt x="10960234"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0162683">
            <a:off x="-2699563" y="-4175269"/>
            <a:ext cx="9442126" cy="8000056"/>
          </a:xfrm>
          <a:custGeom>
            <a:avLst/>
            <a:gdLst/>
            <a:ahLst/>
            <a:cxnLst/>
            <a:rect r="r" b="b" t="t" l="l"/>
            <a:pathLst>
              <a:path h="8000056" w="9442126">
                <a:moveTo>
                  <a:pt x="0" y="0"/>
                </a:moveTo>
                <a:lnTo>
                  <a:pt x="9442127" y="0"/>
                </a:lnTo>
                <a:lnTo>
                  <a:pt x="9442127"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2624874">
            <a:off x="-592651" y="9136368"/>
            <a:ext cx="3242701" cy="1827704"/>
          </a:xfrm>
          <a:custGeom>
            <a:avLst/>
            <a:gdLst/>
            <a:ahLst/>
            <a:cxnLst/>
            <a:rect r="r" b="b" t="t" l="l"/>
            <a:pathLst>
              <a:path h="1827704" w="3242701">
                <a:moveTo>
                  <a:pt x="0" y="0"/>
                </a:moveTo>
                <a:lnTo>
                  <a:pt x="3242702" y="0"/>
                </a:lnTo>
                <a:lnTo>
                  <a:pt x="3242702" y="1827705"/>
                </a:lnTo>
                <a:lnTo>
                  <a:pt x="0" y="18277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2830696">
            <a:off x="15879416" y="-1028700"/>
            <a:ext cx="2835471" cy="4114800"/>
          </a:xfrm>
          <a:custGeom>
            <a:avLst/>
            <a:gdLst/>
            <a:ahLst/>
            <a:cxnLst/>
            <a:rect r="r" b="b" t="t" l="l"/>
            <a:pathLst>
              <a:path h="4114800" w="2835471">
                <a:moveTo>
                  <a:pt x="0" y="0"/>
                </a:moveTo>
                <a:lnTo>
                  <a:pt x="2835472" y="0"/>
                </a:lnTo>
                <a:lnTo>
                  <a:pt x="283547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TextBox 2" id="2"/>
          <p:cNvSpPr txBox="true"/>
          <p:nvPr/>
        </p:nvSpPr>
        <p:spPr>
          <a:xfrm rot="0">
            <a:off x="3790976" y="923925"/>
            <a:ext cx="10745363" cy="863600"/>
          </a:xfrm>
          <a:prstGeom prst="rect">
            <a:avLst/>
          </a:prstGeom>
        </p:spPr>
        <p:txBody>
          <a:bodyPr anchor="t" rtlCol="false" tIns="0" lIns="0" bIns="0" rIns="0">
            <a:spAutoFit/>
          </a:bodyPr>
          <a:lstStyle/>
          <a:p>
            <a:pPr algn="ctr">
              <a:lnSpc>
                <a:spcPts val="7000"/>
              </a:lnSpc>
            </a:pPr>
            <a:r>
              <a:rPr lang="en-US" b="true" sz="5000">
                <a:solidFill>
                  <a:srgbClr val="2D2261"/>
                </a:solidFill>
                <a:latin typeface="Red Hat Display Bold"/>
                <a:ea typeface="Red Hat Display Bold"/>
                <a:cs typeface="Red Hat Display Bold"/>
                <a:sym typeface="Red Hat Display Bold"/>
              </a:rPr>
              <a:t>TỔNG KẾT BÀI TOÁN</a:t>
            </a:r>
          </a:p>
        </p:txBody>
      </p:sp>
      <p:grpSp>
        <p:nvGrpSpPr>
          <p:cNvPr name="Group 3" id="3"/>
          <p:cNvGrpSpPr/>
          <p:nvPr/>
        </p:nvGrpSpPr>
        <p:grpSpPr>
          <a:xfrm rot="0">
            <a:off x="2301552" y="3253979"/>
            <a:ext cx="4061528" cy="6004321"/>
            <a:chOff x="0" y="0"/>
            <a:chExt cx="1069703" cy="1581385"/>
          </a:xfrm>
        </p:grpSpPr>
        <p:sp>
          <p:nvSpPr>
            <p:cNvPr name="Freeform 4" id="4"/>
            <p:cNvSpPr/>
            <p:nvPr/>
          </p:nvSpPr>
          <p:spPr>
            <a:xfrm flipH="false" flipV="false" rot="0">
              <a:off x="0" y="0"/>
              <a:ext cx="1069703" cy="1581385"/>
            </a:xfrm>
            <a:custGeom>
              <a:avLst/>
              <a:gdLst/>
              <a:ahLst/>
              <a:cxnLst/>
              <a:rect r="r" b="b" t="t" l="l"/>
              <a:pathLst>
                <a:path h="1581385" w="1069703">
                  <a:moveTo>
                    <a:pt x="57185" y="0"/>
                  </a:moveTo>
                  <a:lnTo>
                    <a:pt x="1012518" y="0"/>
                  </a:lnTo>
                  <a:cubicBezTo>
                    <a:pt x="1027684" y="0"/>
                    <a:pt x="1042230" y="6025"/>
                    <a:pt x="1052954" y="16749"/>
                  </a:cubicBezTo>
                  <a:cubicBezTo>
                    <a:pt x="1063678" y="27473"/>
                    <a:pt x="1069703" y="42018"/>
                    <a:pt x="1069703" y="57185"/>
                  </a:cubicBezTo>
                  <a:lnTo>
                    <a:pt x="1069703" y="1524200"/>
                  </a:lnTo>
                  <a:cubicBezTo>
                    <a:pt x="1069703" y="1539367"/>
                    <a:pt x="1063678" y="1553912"/>
                    <a:pt x="1052954" y="1564636"/>
                  </a:cubicBezTo>
                  <a:cubicBezTo>
                    <a:pt x="1042230" y="1575360"/>
                    <a:pt x="1027684" y="1581385"/>
                    <a:pt x="1012518" y="1581385"/>
                  </a:cubicBezTo>
                  <a:lnTo>
                    <a:pt x="57185" y="1581385"/>
                  </a:lnTo>
                  <a:cubicBezTo>
                    <a:pt x="42018" y="1581385"/>
                    <a:pt x="27473" y="1575360"/>
                    <a:pt x="16749" y="1564636"/>
                  </a:cubicBezTo>
                  <a:cubicBezTo>
                    <a:pt x="6025" y="1553912"/>
                    <a:pt x="0" y="1539367"/>
                    <a:pt x="0" y="1524200"/>
                  </a:cubicBezTo>
                  <a:lnTo>
                    <a:pt x="0" y="57185"/>
                  </a:lnTo>
                  <a:cubicBezTo>
                    <a:pt x="0" y="42018"/>
                    <a:pt x="6025" y="27473"/>
                    <a:pt x="16749" y="16749"/>
                  </a:cubicBezTo>
                  <a:cubicBezTo>
                    <a:pt x="27473" y="6025"/>
                    <a:pt x="42018" y="0"/>
                    <a:pt x="57185" y="0"/>
                  </a:cubicBezTo>
                  <a:close/>
                </a:path>
              </a:pathLst>
            </a:custGeom>
            <a:solidFill>
              <a:srgbClr val="ECE1D7"/>
            </a:solidFill>
          </p:spPr>
        </p:sp>
        <p:sp>
          <p:nvSpPr>
            <p:cNvPr name="TextBox 5" id="5"/>
            <p:cNvSpPr txBox="true"/>
            <p:nvPr/>
          </p:nvSpPr>
          <p:spPr>
            <a:xfrm>
              <a:off x="0" y="-47625"/>
              <a:ext cx="1069703" cy="1629010"/>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0">
            <a:off x="7131182" y="3253979"/>
            <a:ext cx="4061528" cy="5657532"/>
            <a:chOff x="0" y="0"/>
            <a:chExt cx="1069703" cy="1490050"/>
          </a:xfrm>
        </p:grpSpPr>
        <p:sp>
          <p:nvSpPr>
            <p:cNvPr name="Freeform 7" id="7"/>
            <p:cNvSpPr/>
            <p:nvPr/>
          </p:nvSpPr>
          <p:spPr>
            <a:xfrm flipH="false" flipV="false" rot="0">
              <a:off x="0" y="0"/>
              <a:ext cx="1069703" cy="1490050"/>
            </a:xfrm>
            <a:custGeom>
              <a:avLst/>
              <a:gdLst/>
              <a:ahLst/>
              <a:cxnLst/>
              <a:rect r="r" b="b" t="t" l="l"/>
              <a:pathLst>
                <a:path h="1490050" w="1069703">
                  <a:moveTo>
                    <a:pt x="57185" y="0"/>
                  </a:moveTo>
                  <a:lnTo>
                    <a:pt x="1012518" y="0"/>
                  </a:lnTo>
                  <a:cubicBezTo>
                    <a:pt x="1027684" y="0"/>
                    <a:pt x="1042230" y="6025"/>
                    <a:pt x="1052954" y="16749"/>
                  </a:cubicBezTo>
                  <a:cubicBezTo>
                    <a:pt x="1063678" y="27473"/>
                    <a:pt x="1069703" y="42018"/>
                    <a:pt x="1069703" y="57185"/>
                  </a:cubicBezTo>
                  <a:lnTo>
                    <a:pt x="1069703" y="1432865"/>
                  </a:lnTo>
                  <a:cubicBezTo>
                    <a:pt x="1069703" y="1448031"/>
                    <a:pt x="1063678" y="1462577"/>
                    <a:pt x="1052954" y="1473301"/>
                  </a:cubicBezTo>
                  <a:cubicBezTo>
                    <a:pt x="1042230" y="1484025"/>
                    <a:pt x="1027684" y="1490050"/>
                    <a:pt x="1012518" y="1490050"/>
                  </a:cubicBezTo>
                  <a:lnTo>
                    <a:pt x="57185" y="1490050"/>
                  </a:lnTo>
                  <a:cubicBezTo>
                    <a:pt x="42018" y="1490050"/>
                    <a:pt x="27473" y="1484025"/>
                    <a:pt x="16749" y="1473301"/>
                  </a:cubicBezTo>
                  <a:cubicBezTo>
                    <a:pt x="6025" y="1462577"/>
                    <a:pt x="0" y="1448031"/>
                    <a:pt x="0" y="1432865"/>
                  </a:cubicBezTo>
                  <a:lnTo>
                    <a:pt x="0" y="57185"/>
                  </a:lnTo>
                  <a:cubicBezTo>
                    <a:pt x="0" y="42018"/>
                    <a:pt x="6025" y="27473"/>
                    <a:pt x="16749" y="16749"/>
                  </a:cubicBezTo>
                  <a:cubicBezTo>
                    <a:pt x="27473" y="6025"/>
                    <a:pt x="42018" y="0"/>
                    <a:pt x="57185" y="0"/>
                  </a:cubicBezTo>
                  <a:close/>
                </a:path>
              </a:pathLst>
            </a:custGeom>
            <a:solidFill>
              <a:srgbClr val="ECE1D7"/>
            </a:solidFill>
          </p:spPr>
        </p:sp>
        <p:sp>
          <p:nvSpPr>
            <p:cNvPr name="TextBox 8" id="8"/>
            <p:cNvSpPr txBox="true"/>
            <p:nvPr/>
          </p:nvSpPr>
          <p:spPr>
            <a:xfrm>
              <a:off x="0" y="-47625"/>
              <a:ext cx="1069703" cy="1537675"/>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0">
            <a:off x="11964235" y="3405229"/>
            <a:ext cx="4061528" cy="4765125"/>
            <a:chOff x="0" y="0"/>
            <a:chExt cx="1069703" cy="1255012"/>
          </a:xfrm>
        </p:grpSpPr>
        <p:sp>
          <p:nvSpPr>
            <p:cNvPr name="Freeform 10" id="10"/>
            <p:cNvSpPr/>
            <p:nvPr/>
          </p:nvSpPr>
          <p:spPr>
            <a:xfrm flipH="false" flipV="false" rot="0">
              <a:off x="0" y="0"/>
              <a:ext cx="1069703" cy="1255012"/>
            </a:xfrm>
            <a:custGeom>
              <a:avLst/>
              <a:gdLst/>
              <a:ahLst/>
              <a:cxnLst/>
              <a:rect r="r" b="b" t="t" l="l"/>
              <a:pathLst>
                <a:path h="1255012" w="1069703">
                  <a:moveTo>
                    <a:pt x="57185" y="0"/>
                  </a:moveTo>
                  <a:lnTo>
                    <a:pt x="1012518" y="0"/>
                  </a:lnTo>
                  <a:cubicBezTo>
                    <a:pt x="1027684" y="0"/>
                    <a:pt x="1042230" y="6025"/>
                    <a:pt x="1052954" y="16749"/>
                  </a:cubicBezTo>
                  <a:cubicBezTo>
                    <a:pt x="1063678" y="27473"/>
                    <a:pt x="1069703" y="42018"/>
                    <a:pt x="1069703" y="57185"/>
                  </a:cubicBezTo>
                  <a:lnTo>
                    <a:pt x="1069703" y="1197828"/>
                  </a:lnTo>
                  <a:cubicBezTo>
                    <a:pt x="1069703" y="1212994"/>
                    <a:pt x="1063678" y="1227539"/>
                    <a:pt x="1052954" y="1238263"/>
                  </a:cubicBezTo>
                  <a:cubicBezTo>
                    <a:pt x="1042230" y="1248988"/>
                    <a:pt x="1027684" y="1255012"/>
                    <a:pt x="1012518" y="1255012"/>
                  </a:cubicBezTo>
                  <a:lnTo>
                    <a:pt x="57185" y="1255012"/>
                  </a:lnTo>
                  <a:cubicBezTo>
                    <a:pt x="42018" y="1255012"/>
                    <a:pt x="27473" y="1248988"/>
                    <a:pt x="16749" y="1238263"/>
                  </a:cubicBezTo>
                  <a:cubicBezTo>
                    <a:pt x="6025" y="1227539"/>
                    <a:pt x="0" y="1212994"/>
                    <a:pt x="0" y="1197828"/>
                  </a:cubicBezTo>
                  <a:lnTo>
                    <a:pt x="0" y="57185"/>
                  </a:lnTo>
                  <a:cubicBezTo>
                    <a:pt x="0" y="42018"/>
                    <a:pt x="6025" y="27473"/>
                    <a:pt x="16749" y="16749"/>
                  </a:cubicBezTo>
                  <a:cubicBezTo>
                    <a:pt x="27473" y="6025"/>
                    <a:pt x="42018" y="0"/>
                    <a:pt x="57185" y="0"/>
                  </a:cubicBezTo>
                  <a:close/>
                </a:path>
              </a:pathLst>
            </a:custGeom>
            <a:solidFill>
              <a:srgbClr val="ECE1D7"/>
            </a:solidFill>
          </p:spPr>
        </p:sp>
        <p:sp>
          <p:nvSpPr>
            <p:cNvPr name="TextBox 11" id="11"/>
            <p:cNvSpPr txBox="true"/>
            <p:nvPr/>
          </p:nvSpPr>
          <p:spPr>
            <a:xfrm>
              <a:off x="0" y="-47625"/>
              <a:ext cx="1069703" cy="1302637"/>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0">
            <a:off x="2301552" y="2320571"/>
            <a:ext cx="4061528" cy="1322028"/>
            <a:chOff x="0" y="0"/>
            <a:chExt cx="1069703" cy="348188"/>
          </a:xfrm>
        </p:grpSpPr>
        <p:sp>
          <p:nvSpPr>
            <p:cNvPr name="Freeform 13" id="13"/>
            <p:cNvSpPr/>
            <p:nvPr/>
          </p:nvSpPr>
          <p:spPr>
            <a:xfrm flipH="false" flipV="false" rot="0">
              <a:off x="0" y="0"/>
              <a:ext cx="1069703" cy="348188"/>
            </a:xfrm>
            <a:custGeom>
              <a:avLst/>
              <a:gdLst/>
              <a:ahLst/>
              <a:cxnLst/>
              <a:rect r="r" b="b" t="t" l="l"/>
              <a:pathLst>
                <a:path h="348188" w="1069703">
                  <a:moveTo>
                    <a:pt x="57185" y="0"/>
                  </a:moveTo>
                  <a:lnTo>
                    <a:pt x="1012518" y="0"/>
                  </a:lnTo>
                  <a:cubicBezTo>
                    <a:pt x="1027684" y="0"/>
                    <a:pt x="1042230" y="6025"/>
                    <a:pt x="1052954" y="16749"/>
                  </a:cubicBezTo>
                  <a:cubicBezTo>
                    <a:pt x="1063678" y="27473"/>
                    <a:pt x="1069703" y="42018"/>
                    <a:pt x="1069703" y="57185"/>
                  </a:cubicBezTo>
                  <a:lnTo>
                    <a:pt x="1069703" y="291004"/>
                  </a:lnTo>
                  <a:cubicBezTo>
                    <a:pt x="1069703" y="306170"/>
                    <a:pt x="1063678" y="320715"/>
                    <a:pt x="1052954" y="331439"/>
                  </a:cubicBezTo>
                  <a:cubicBezTo>
                    <a:pt x="1042230" y="342164"/>
                    <a:pt x="1027684" y="348188"/>
                    <a:pt x="1012518" y="348188"/>
                  </a:cubicBezTo>
                  <a:lnTo>
                    <a:pt x="57185" y="348188"/>
                  </a:lnTo>
                  <a:cubicBezTo>
                    <a:pt x="42018" y="348188"/>
                    <a:pt x="27473" y="342164"/>
                    <a:pt x="16749" y="331439"/>
                  </a:cubicBezTo>
                  <a:cubicBezTo>
                    <a:pt x="6025" y="320715"/>
                    <a:pt x="0" y="306170"/>
                    <a:pt x="0" y="291004"/>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14" id="14"/>
            <p:cNvSpPr txBox="true"/>
            <p:nvPr/>
          </p:nvSpPr>
          <p:spPr>
            <a:xfrm>
              <a:off x="0" y="-47625"/>
              <a:ext cx="1069703" cy="395813"/>
            </a:xfrm>
            <a:prstGeom prst="rect">
              <a:avLst/>
            </a:prstGeom>
          </p:spPr>
          <p:txBody>
            <a:bodyPr anchor="ctr" rtlCol="false" tIns="50800" lIns="50800" bIns="50800" rIns="50800"/>
            <a:lstStyle/>
            <a:p>
              <a:pPr algn="ctr">
                <a:lnSpc>
                  <a:spcPts val="3032"/>
                </a:lnSpc>
              </a:pPr>
            </a:p>
          </p:txBody>
        </p:sp>
      </p:grpSp>
      <p:grpSp>
        <p:nvGrpSpPr>
          <p:cNvPr name="Group 15" id="15"/>
          <p:cNvGrpSpPr/>
          <p:nvPr/>
        </p:nvGrpSpPr>
        <p:grpSpPr>
          <a:xfrm rot="0">
            <a:off x="7131182" y="2320571"/>
            <a:ext cx="4061528" cy="1866815"/>
            <a:chOff x="0" y="0"/>
            <a:chExt cx="1069703" cy="491672"/>
          </a:xfrm>
        </p:grpSpPr>
        <p:sp>
          <p:nvSpPr>
            <p:cNvPr name="Freeform 16" id="16"/>
            <p:cNvSpPr/>
            <p:nvPr/>
          </p:nvSpPr>
          <p:spPr>
            <a:xfrm flipH="false" flipV="false" rot="0">
              <a:off x="0" y="0"/>
              <a:ext cx="1069703" cy="491672"/>
            </a:xfrm>
            <a:custGeom>
              <a:avLst/>
              <a:gdLst/>
              <a:ahLst/>
              <a:cxnLst/>
              <a:rect r="r" b="b" t="t" l="l"/>
              <a:pathLst>
                <a:path h="491672" w="1069703">
                  <a:moveTo>
                    <a:pt x="57185" y="0"/>
                  </a:moveTo>
                  <a:lnTo>
                    <a:pt x="1012518" y="0"/>
                  </a:lnTo>
                  <a:cubicBezTo>
                    <a:pt x="1027684" y="0"/>
                    <a:pt x="1042230" y="6025"/>
                    <a:pt x="1052954" y="16749"/>
                  </a:cubicBezTo>
                  <a:cubicBezTo>
                    <a:pt x="1063678" y="27473"/>
                    <a:pt x="1069703" y="42018"/>
                    <a:pt x="1069703" y="57185"/>
                  </a:cubicBezTo>
                  <a:lnTo>
                    <a:pt x="1069703" y="434487"/>
                  </a:lnTo>
                  <a:cubicBezTo>
                    <a:pt x="1069703" y="466069"/>
                    <a:pt x="1044100" y="491672"/>
                    <a:pt x="1012518" y="491672"/>
                  </a:cubicBezTo>
                  <a:lnTo>
                    <a:pt x="57185" y="491672"/>
                  </a:lnTo>
                  <a:cubicBezTo>
                    <a:pt x="42018" y="491672"/>
                    <a:pt x="27473" y="485647"/>
                    <a:pt x="16749" y="474923"/>
                  </a:cubicBezTo>
                  <a:cubicBezTo>
                    <a:pt x="6025" y="464198"/>
                    <a:pt x="0" y="449653"/>
                    <a:pt x="0" y="434487"/>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17" id="17"/>
            <p:cNvSpPr txBox="true"/>
            <p:nvPr/>
          </p:nvSpPr>
          <p:spPr>
            <a:xfrm>
              <a:off x="0" y="-47625"/>
              <a:ext cx="1069703" cy="539297"/>
            </a:xfrm>
            <a:prstGeom prst="rect">
              <a:avLst/>
            </a:prstGeom>
          </p:spPr>
          <p:txBody>
            <a:bodyPr anchor="ctr" rtlCol="false" tIns="50800" lIns="50800" bIns="50800" rIns="50800"/>
            <a:lstStyle/>
            <a:p>
              <a:pPr algn="ctr">
                <a:lnSpc>
                  <a:spcPts val="3032"/>
                </a:lnSpc>
              </a:pPr>
            </a:p>
          </p:txBody>
        </p:sp>
      </p:grpSp>
      <p:grpSp>
        <p:nvGrpSpPr>
          <p:cNvPr name="Group 18" id="18"/>
          <p:cNvGrpSpPr/>
          <p:nvPr/>
        </p:nvGrpSpPr>
        <p:grpSpPr>
          <a:xfrm rot="0">
            <a:off x="11964235" y="2320571"/>
            <a:ext cx="4061528" cy="1866815"/>
            <a:chOff x="0" y="0"/>
            <a:chExt cx="1069703" cy="491672"/>
          </a:xfrm>
        </p:grpSpPr>
        <p:sp>
          <p:nvSpPr>
            <p:cNvPr name="Freeform 19" id="19"/>
            <p:cNvSpPr/>
            <p:nvPr/>
          </p:nvSpPr>
          <p:spPr>
            <a:xfrm flipH="false" flipV="false" rot="0">
              <a:off x="0" y="0"/>
              <a:ext cx="1069703" cy="491672"/>
            </a:xfrm>
            <a:custGeom>
              <a:avLst/>
              <a:gdLst/>
              <a:ahLst/>
              <a:cxnLst/>
              <a:rect r="r" b="b" t="t" l="l"/>
              <a:pathLst>
                <a:path h="491672" w="1069703">
                  <a:moveTo>
                    <a:pt x="57185" y="0"/>
                  </a:moveTo>
                  <a:lnTo>
                    <a:pt x="1012518" y="0"/>
                  </a:lnTo>
                  <a:cubicBezTo>
                    <a:pt x="1027684" y="0"/>
                    <a:pt x="1042230" y="6025"/>
                    <a:pt x="1052954" y="16749"/>
                  </a:cubicBezTo>
                  <a:cubicBezTo>
                    <a:pt x="1063678" y="27473"/>
                    <a:pt x="1069703" y="42018"/>
                    <a:pt x="1069703" y="57185"/>
                  </a:cubicBezTo>
                  <a:lnTo>
                    <a:pt x="1069703" y="434487"/>
                  </a:lnTo>
                  <a:cubicBezTo>
                    <a:pt x="1069703" y="466069"/>
                    <a:pt x="1044100" y="491672"/>
                    <a:pt x="1012518" y="491672"/>
                  </a:cubicBezTo>
                  <a:lnTo>
                    <a:pt x="57185" y="491672"/>
                  </a:lnTo>
                  <a:cubicBezTo>
                    <a:pt x="42018" y="491672"/>
                    <a:pt x="27473" y="485647"/>
                    <a:pt x="16749" y="474923"/>
                  </a:cubicBezTo>
                  <a:cubicBezTo>
                    <a:pt x="6025" y="464198"/>
                    <a:pt x="0" y="449653"/>
                    <a:pt x="0" y="434487"/>
                  </a:cubicBezTo>
                  <a:lnTo>
                    <a:pt x="0" y="57185"/>
                  </a:lnTo>
                  <a:cubicBezTo>
                    <a:pt x="0" y="42018"/>
                    <a:pt x="6025" y="27473"/>
                    <a:pt x="16749" y="16749"/>
                  </a:cubicBezTo>
                  <a:cubicBezTo>
                    <a:pt x="27473" y="6025"/>
                    <a:pt x="42018" y="0"/>
                    <a:pt x="57185" y="0"/>
                  </a:cubicBezTo>
                  <a:close/>
                </a:path>
              </a:pathLst>
            </a:custGeom>
            <a:solidFill>
              <a:srgbClr val="5B7ABE"/>
            </a:solidFill>
          </p:spPr>
        </p:sp>
        <p:sp>
          <p:nvSpPr>
            <p:cNvPr name="TextBox 20" id="20"/>
            <p:cNvSpPr txBox="true"/>
            <p:nvPr/>
          </p:nvSpPr>
          <p:spPr>
            <a:xfrm>
              <a:off x="0" y="-47625"/>
              <a:ext cx="1069703" cy="539297"/>
            </a:xfrm>
            <a:prstGeom prst="rect">
              <a:avLst/>
            </a:prstGeom>
          </p:spPr>
          <p:txBody>
            <a:bodyPr anchor="ctr" rtlCol="false" tIns="50800" lIns="50800" bIns="50800" rIns="50800"/>
            <a:lstStyle/>
            <a:p>
              <a:pPr algn="ctr">
                <a:lnSpc>
                  <a:spcPts val="3032"/>
                </a:lnSpc>
              </a:pPr>
            </a:p>
          </p:txBody>
        </p:sp>
      </p:grpSp>
      <p:sp>
        <p:nvSpPr>
          <p:cNvPr name="TextBox 21" id="21"/>
          <p:cNvSpPr txBox="true"/>
          <p:nvPr/>
        </p:nvSpPr>
        <p:spPr>
          <a:xfrm rot="0">
            <a:off x="2580797" y="2617709"/>
            <a:ext cx="3503040" cy="8153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Đóng góp chính của bài báo cáo</a:t>
            </a:r>
          </a:p>
        </p:txBody>
      </p:sp>
      <p:sp>
        <p:nvSpPr>
          <p:cNvPr name="TextBox 22" id="22"/>
          <p:cNvSpPr txBox="true"/>
          <p:nvPr/>
        </p:nvSpPr>
        <p:spPr>
          <a:xfrm rot="0">
            <a:off x="7231377" y="2617709"/>
            <a:ext cx="3903875" cy="12344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Đánh giá khách quan về công cụ EDA Tự động (SweetViz/AutoViz)</a:t>
            </a:r>
          </a:p>
        </p:txBody>
      </p:sp>
      <p:sp>
        <p:nvSpPr>
          <p:cNvPr name="TextBox 23" id="23"/>
          <p:cNvSpPr txBox="true"/>
          <p:nvPr/>
        </p:nvSpPr>
        <p:spPr>
          <a:xfrm rot="0">
            <a:off x="11764210" y="2827259"/>
            <a:ext cx="4108323" cy="815340"/>
          </a:xfrm>
          <a:prstGeom prst="rect">
            <a:avLst/>
          </a:prstGeom>
        </p:spPr>
        <p:txBody>
          <a:bodyPr anchor="t" rtlCol="false" tIns="0" lIns="0" bIns="0" rIns="0">
            <a:spAutoFit/>
          </a:bodyPr>
          <a:lstStyle/>
          <a:p>
            <a:pPr algn="ctr">
              <a:lnSpc>
                <a:spcPts val="3359"/>
              </a:lnSpc>
            </a:pPr>
            <a:r>
              <a:rPr lang="en-US" b="true" sz="2400">
                <a:solidFill>
                  <a:srgbClr val="FBFCFE"/>
                </a:solidFill>
                <a:latin typeface="Red Hat Display Bold"/>
                <a:ea typeface="Red Hat Display Bold"/>
                <a:cs typeface="Red Hat Display Bold"/>
                <a:sym typeface="Red Hat Display Bold"/>
              </a:rPr>
              <a:t>Nền tảng cho bước tiếp theo</a:t>
            </a:r>
          </a:p>
        </p:txBody>
      </p:sp>
      <p:sp>
        <p:nvSpPr>
          <p:cNvPr name="TextBox 24" id="24"/>
          <p:cNvSpPr txBox="true"/>
          <p:nvPr/>
        </p:nvSpPr>
        <p:spPr>
          <a:xfrm rot="0">
            <a:off x="2430388" y="3814049"/>
            <a:ext cx="3803857" cy="5626100"/>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2D2261"/>
                </a:solidFill>
                <a:latin typeface="Red Hat Display"/>
                <a:ea typeface="Red Hat Display"/>
                <a:cs typeface="Red Hat Display"/>
                <a:sym typeface="Red Hat Display"/>
              </a:rPr>
              <a:t>Đã thực hiện trọn vẹn quy trình EDA chuẩn: Nạp dữ liệu $\rightarrow$ Làm sạch &amp; Xử lý chất lượng $\rightarrow$ Thống kê mô tả $\rightarrow$ Trực quan hóa đơn/hai/đa biến $\rightarrow$ Trích xuất Insight kinh doanh trên 4 bộ dữ liệu thực tế988.</a:t>
            </a:r>
          </a:p>
          <a:p>
            <a:pPr algn="l" marL="431801" indent="-215900" lvl="1">
              <a:lnSpc>
                <a:spcPts val="2800"/>
              </a:lnSpc>
              <a:buFont typeface="Arial"/>
              <a:buChar char="•"/>
            </a:pPr>
            <a:r>
              <a:rPr lang="en-US" sz="2000">
                <a:solidFill>
                  <a:srgbClr val="2D2261"/>
                </a:solidFill>
                <a:latin typeface="Red Hat Display"/>
                <a:ea typeface="Red Hat Display"/>
                <a:cs typeface="Red Hat Display"/>
                <a:sym typeface="Red Hat Display"/>
              </a:rPr>
              <a:t>Đã làm sạch triệt để các vấn đề dữ liệu thô: loại bỏ dòng trùng, phát hiện khuyết thiếu ẩn dạng</a:t>
            </a:r>
            <a:r>
              <a:rPr lang="en-US" sz="2000">
                <a:solidFill>
                  <a:srgbClr val="2D2261"/>
                </a:solidFill>
                <a:latin typeface="Red Hat Display"/>
                <a:ea typeface="Red Hat Display"/>
                <a:cs typeface="Red Hat Display"/>
                <a:sym typeface="Red Hat Display"/>
              </a:rPr>
              <a:t> số 0, lọc đơn hủy và xử lý nhiễu8more_horiz</a:t>
            </a:r>
          </a:p>
          <a:p>
            <a:pPr algn="l">
              <a:lnSpc>
                <a:spcPts val="2800"/>
              </a:lnSpc>
            </a:pPr>
          </a:p>
        </p:txBody>
      </p:sp>
      <p:sp>
        <p:nvSpPr>
          <p:cNvPr name="TextBox 25" id="25"/>
          <p:cNvSpPr txBox="true"/>
          <p:nvPr/>
        </p:nvSpPr>
        <p:spPr>
          <a:xfrm rot="0">
            <a:off x="7231377" y="4342686"/>
            <a:ext cx="3821728" cy="4568825"/>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2D2261"/>
                </a:solidFill>
                <a:latin typeface="Red Hat Display"/>
                <a:ea typeface="Red Hat Display"/>
                <a:cs typeface="Red Hat Display"/>
                <a:sym typeface="Red Hat Display"/>
              </a:rPr>
              <a:t>Ưu điểm: Tiết kiệm đáng kể thời gian ở bước khảo sát ban đầu, tạo báo cáo trực quan nhanh chóng.</a:t>
            </a:r>
          </a:p>
          <a:p>
            <a:pPr algn="l" marL="431801" indent="-215900" lvl="1">
              <a:lnSpc>
                <a:spcPts val="2800"/>
              </a:lnSpc>
              <a:buFont typeface="Arial"/>
              <a:buChar char="•"/>
            </a:pPr>
            <a:r>
              <a:rPr lang="en-US" sz="2000">
                <a:solidFill>
                  <a:srgbClr val="2D2261"/>
                </a:solidFill>
                <a:latin typeface="Red Hat Display"/>
                <a:ea typeface="Red Hat Display"/>
                <a:cs typeface="Red Hat Display"/>
                <a:sym typeface="Red Hat Display"/>
              </a:rPr>
              <a:t>Hạn chế: Không thể thay thế hoàn toàn việc phân tích thủ công vì người làm dữ liệ</a:t>
            </a:r>
            <a:r>
              <a:rPr lang="en-US" sz="2000">
                <a:solidFill>
                  <a:srgbClr val="2D2261"/>
                </a:solidFill>
                <a:latin typeface="Red Hat Display"/>
                <a:ea typeface="Red Hat Display"/>
                <a:cs typeface="Red Hat Display"/>
                <a:sym typeface="Red Hat Display"/>
              </a:rPr>
              <a:t>u vẫn cần hiểu ý nghĩa nghiệp vụ để chọn phương pháp xử lý thích hợp và tránh hiện tượng rò rỉ thông tin (Data Leakage) khi điền khuyết</a:t>
            </a:r>
          </a:p>
          <a:p>
            <a:pPr algn="l">
              <a:lnSpc>
                <a:spcPts val="2800"/>
              </a:lnSpc>
            </a:pPr>
          </a:p>
        </p:txBody>
      </p:sp>
      <p:sp>
        <p:nvSpPr>
          <p:cNvPr name="TextBox 26" id="26"/>
          <p:cNvSpPr txBox="true"/>
          <p:nvPr/>
        </p:nvSpPr>
        <p:spPr>
          <a:xfrm rot="0">
            <a:off x="11415624" y="4551045"/>
            <a:ext cx="4456909" cy="3159125"/>
          </a:xfrm>
          <a:prstGeom prst="rect">
            <a:avLst/>
          </a:prstGeom>
        </p:spPr>
        <p:txBody>
          <a:bodyPr anchor="t" rtlCol="false" tIns="0" lIns="0" bIns="0" rIns="0">
            <a:spAutoFit/>
          </a:bodyPr>
          <a:lstStyle/>
          <a:p>
            <a:pPr algn="l">
              <a:lnSpc>
                <a:spcPts val="2800"/>
              </a:lnSpc>
            </a:pPr>
            <a:r>
              <a:rPr lang="en-US" sz="2000">
                <a:solidFill>
                  <a:srgbClr val="2D2261"/>
                </a:solidFill>
                <a:latin typeface="Red Hat Display"/>
                <a:ea typeface="Red Hat Display"/>
                <a:cs typeface="Red Hat Display"/>
                <a:sym typeface="Red Hat Display"/>
              </a:rPr>
              <a:t>Kết quả phân tích và chọn lọc đặc trưng trong bài báo cáo là tiền đề trực tiếp để bước vào giai đoạn Xây dựng các mô hình Học máy (Mô hình phân loại chất lượng rượu đỏ, Mô hình dự báo bệnh tiểu đường, Mô hình phân khúc &amp;</a:t>
            </a:r>
            <a:r>
              <a:rPr lang="en-US" sz="2000">
                <a:solidFill>
                  <a:srgbClr val="2D2261"/>
                </a:solidFill>
                <a:latin typeface="Red Hat Display"/>
                <a:ea typeface="Red Hat Display"/>
                <a:cs typeface="Red Hat Display"/>
                <a:sym typeface="Red Hat Display"/>
              </a:rPr>
              <a:t> dự đoán phản hồi khách hàng)</a:t>
            </a:r>
          </a:p>
        </p:txBody>
      </p:sp>
      <p:sp>
        <p:nvSpPr>
          <p:cNvPr name="Freeform 27" id="27"/>
          <p:cNvSpPr/>
          <p:nvPr/>
        </p:nvSpPr>
        <p:spPr>
          <a:xfrm flipH="false" flipV="false" rot="-2080684">
            <a:off x="10082077" y="8242051"/>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28" id="28"/>
          <p:cNvSpPr/>
          <p:nvPr/>
        </p:nvSpPr>
        <p:spPr>
          <a:xfrm flipH="false" flipV="false" rot="9426524">
            <a:off x="-3984660" y="-4765086"/>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4">
              <a:alphaModFix amt="50000"/>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2624874">
            <a:off x="-1965598" y="10125747"/>
            <a:ext cx="3242701" cy="1827704"/>
          </a:xfrm>
          <a:custGeom>
            <a:avLst/>
            <a:gdLst/>
            <a:ahLst/>
            <a:cxnLst/>
            <a:rect r="r" b="b" t="t" l="l"/>
            <a:pathLst>
              <a:path h="1827704" w="3242701">
                <a:moveTo>
                  <a:pt x="0" y="0"/>
                </a:moveTo>
                <a:lnTo>
                  <a:pt x="3242701" y="0"/>
                </a:lnTo>
                <a:lnTo>
                  <a:pt x="3242701" y="1827704"/>
                </a:lnTo>
                <a:lnTo>
                  <a:pt x="0" y="1827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0" id="30"/>
          <p:cNvSpPr/>
          <p:nvPr/>
        </p:nvSpPr>
        <p:spPr>
          <a:xfrm flipH="false" flipV="false" rot="2830696">
            <a:off x="16075185" y="-1028700"/>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BFCFE"/>
        </a:solidFill>
      </p:bgPr>
    </p:bg>
    <p:spTree>
      <p:nvGrpSpPr>
        <p:cNvPr id="1" name=""/>
        <p:cNvGrpSpPr/>
        <p:nvPr/>
      </p:nvGrpSpPr>
      <p:grpSpPr>
        <a:xfrm>
          <a:off x="0" y="0"/>
          <a:ext cx="0" cy="0"/>
          <a:chOff x="0" y="0"/>
          <a:chExt cx="0" cy="0"/>
        </a:xfrm>
      </p:grpSpPr>
      <p:sp>
        <p:nvSpPr>
          <p:cNvPr name="Freeform 2" id="2"/>
          <p:cNvSpPr/>
          <p:nvPr/>
        </p:nvSpPr>
        <p:spPr>
          <a:xfrm flipH="false" flipV="false" rot="0">
            <a:off x="-212506" y="-3536596"/>
            <a:ext cx="10960234" cy="7472887"/>
          </a:xfrm>
          <a:custGeom>
            <a:avLst/>
            <a:gdLst/>
            <a:ahLst/>
            <a:cxnLst/>
            <a:rect r="r" b="b" t="t" l="l"/>
            <a:pathLst>
              <a:path h="7472887" w="10960234">
                <a:moveTo>
                  <a:pt x="0" y="0"/>
                </a:moveTo>
                <a:lnTo>
                  <a:pt x="10960235" y="0"/>
                </a:lnTo>
                <a:lnTo>
                  <a:pt x="10960235" y="7472887"/>
                </a:lnTo>
                <a:lnTo>
                  <a:pt x="0" y="7472887"/>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89134" y="2569620"/>
            <a:ext cx="6925852" cy="6014556"/>
          </a:xfrm>
          <a:custGeom>
            <a:avLst/>
            <a:gdLst/>
            <a:ahLst/>
            <a:cxnLst/>
            <a:rect r="r" b="b" t="t" l="l"/>
            <a:pathLst>
              <a:path h="6014556" w="6925852">
                <a:moveTo>
                  <a:pt x="0" y="0"/>
                </a:moveTo>
                <a:lnTo>
                  <a:pt x="6925852" y="0"/>
                </a:lnTo>
                <a:lnTo>
                  <a:pt x="6925852" y="6014556"/>
                </a:lnTo>
                <a:lnTo>
                  <a:pt x="0" y="60145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35325">
            <a:off x="11726353" y="6893900"/>
            <a:ext cx="9442126" cy="8000056"/>
          </a:xfrm>
          <a:custGeom>
            <a:avLst/>
            <a:gdLst/>
            <a:ahLst/>
            <a:cxnLst/>
            <a:rect r="r" b="b" t="t" l="l"/>
            <a:pathLst>
              <a:path h="8000056" w="9442126">
                <a:moveTo>
                  <a:pt x="0" y="0"/>
                </a:moveTo>
                <a:lnTo>
                  <a:pt x="9442126" y="0"/>
                </a:lnTo>
                <a:lnTo>
                  <a:pt x="9442126" y="8000056"/>
                </a:lnTo>
                <a:lnTo>
                  <a:pt x="0" y="8000056"/>
                </a:lnTo>
                <a:lnTo>
                  <a:pt x="0" y="0"/>
                </a:lnTo>
                <a:close/>
              </a:path>
            </a:pathLst>
          </a:custGeom>
          <a:blipFill>
            <a:blip r:embed="rId6">
              <a:alphaModFix amt="50000"/>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26878">
            <a:off x="13631790" y="148087"/>
            <a:ext cx="4576141" cy="2579280"/>
          </a:xfrm>
          <a:custGeom>
            <a:avLst/>
            <a:gdLst/>
            <a:ahLst/>
            <a:cxnLst/>
            <a:rect r="r" b="b" t="t" l="l"/>
            <a:pathLst>
              <a:path h="2579280" w="4576141">
                <a:moveTo>
                  <a:pt x="0" y="0"/>
                </a:moveTo>
                <a:lnTo>
                  <a:pt x="4576141" y="0"/>
                </a:lnTo>
                <a:lnTo>
                  <a:pt x="4576141" y="2579280"/>
                </a:lnTo>
                <a:lnTo>
                  <a:pt x="0" y="25792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2830696">
            <a:off x="1377168" y="7560016"/>
            <a:ext cx="2835471" cy="4114800"/>
          </a:xfrm>
          <a:custGeom>
            <a:avLst/>
            <a:gdLst/>
            <a:ahLst/>
            <a:cxnLst/>
            <a:rect r="r" b="b" t="t" l="l"/>
            <a:pathLst>
              <a:path h="4114800" w="2835471">
                <a:moveTo>
                  <a:pt x="0" y="0"/>
                </a:moveTo>
                <a:lnTo>
                  <a:pt x="2835471" y="0"/>
                </a:lnTo>
                <a:lnTo>
                  <a:pt x="2835471"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8200010" y="4196586"/>
            <a:ext cx="9059290" cy="2472733"/>
          </a:xfrm>
          <a:prstGeom prst="rect">
            <a:avLst/>
          </a:prstGeom>
        </p:spPr>
        <p:txBody>
          <a:bodyPr anchor="t" rtlCol="false" tIns="0" lIns="0" bIns="0" rIns="0">
            <a:spAutoFit/>
          </a:bodyPr>
          <a:lstStyle/>
          <a:p>
            <a:pPr algn="just">
              <a:lnSpc>
                <a:spcPts val="9824"/>
              </a:lnSpc>
            </a:pPr>
            <a:r>
              <a:rPr lang="en-US" sz="7897" b="true">
                <a:solidFill>
                  <a:srgbClr val="2D2261"/>
                </a:solidFill>
                <a:latin typeface="Red Hat Display Bold"/>
                <a:ea typeface="Red Hat Display Bold"/>
                <a:cs typeface="Red Hat Display Bold"/>
                <a:sym typeface="Red Hat Display Bold"/>
              </a:rPr>
              <a:t>THANK YOU </a:t>
            </a:r>
          </a:p>
          <a:p>
            <a:pPr algn="l">
              <a:lnSpc>
                <a:spcPts val="9824"/>
              </a:lnSpc>
            </a:pPr>
            <a:r>
              <a:rPr lang="en-US" b="true" sz="7897">
                <a:solidFill>
                  <a:srgbClr val="2D2261"/>
                </a:solidFill>
                <a:latin typeface="Red Hat Display Bold"/>
                <a:ea typeface="Red Hat Display Bold"/>
                <a:cs typeface="Red Hat Display Bold"/>
                <a:sym typeface="Red Hat Display Bold"/>
              </a:rPr>
              <a:t>FOR LISTENING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DAHYjLCIe3c</dc:identifier>
  <dcterms:modified xsi:type="dcterms:W3CDTF">2011-08-01T06:04:30Z</dcterms:modified>
  <cp:revision>1</cp:revision>
  <dc:title>Blue and Cream Illustrative SWOT Analysis Presentation</dc:title>
</cp:coreProperties>
</file>